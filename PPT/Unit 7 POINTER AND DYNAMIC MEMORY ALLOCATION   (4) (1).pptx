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399" r:id="rId2"/>
    <p:sldId id="460" r:id="rId3"/>
    <p:sldId id="461" r:id="rId4"/>
    <p:sldId id="462" r:id="rId5"/>
    <p:sldId id="463" r:id="rId6"/>
    <p:sldId id="464" r:id="rId7"/>
    <p:sldId id="465" r:id="rId8"/>
    <p:sldId id="466" r:id="rId9"/>
    <p:sldId id="467" r:id="rId10"/>
    <p:sldId id="468" r:id="rId11"/>
    <p:sldId id="469" r:id="rId12"/>
    <p:sldId id="472" r:id="rId13"/>
    <p:sldId id="473" r:id="rId14"/>
    <p:sldId id="474" r:id="rId15"/>
    <p:sldId id="475" r:id="rId16"/>
    <p:sldId id="476" r:id="rId17"/>
    <p:sldId id="477" r:id="rId18"/>
    <p:sldId id="478" r:id="rId19"/>
    <p:sldId id="479" r:id="rId20"/>
    <p:sldId id="480" r:id="rId21"/>
    <p:sldId id="471" r:id="rId22"/>
    <p:sldId id="257" r:id="rId23"/>
    <p:sldId id="470" r:id="rId24"/>
    <p:sldId id="481" r:id="rId25"/>
    <p:sldId id="482" r:id="rId26"/>
    <p:sldId id="483" r:id="rId27"/>
    <p:sldId id="451" r:id="rId28"/>
    <p:sldId id="452" r:id="rId29"/>
    <p:sldId id="453" r:id="rId30"/>
    <p:sldId id="454" r:id="rId31"/>
    <p:sldId id="455" r:id="rId32"/>
    <p:sldId id="456" r:id="rId33"/>
    <p:sldId id="457" r:id="rId34"/>
    <p:sldId id="458" r:id="rId35"/>
    <p:sldId id="459" r:id="rId36"/>
    <p:sldId id="484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3BE020"/>
    <a:srgbClr val="FFFFFF"/>
    <a:srgbClr val="11BBAF"/>
    <a:srgbClr val="FFCA4F"/>
    <a:srgbClr val="854F89"/>
    <a:srgbClr val="FFE152"/>
    <a:srgbClr val="DD00FF"/>
    <a:srgbClr val="D8D5ED"/>
    <a:srgbClr val="B5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2B3AB4-0AE5-4D8A-8FDA-97F69717BF98}" v="1" dt="2024-10-23T06:20:29.8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4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2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8C6E7-F93F-4FEB-B5F1-DDFA47FBDA73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A96B1-C243-4188-9409-64427083F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639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787469" y="5600573"/>
            <a:ext cx="1397000" cy="365125"/>
          </a:xfrm>
        </p:spPr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02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279400" y="6173787"/>
            <a:ext cx="20277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err="1"/>
              <a:t>R.C.Gonzalez</a:t>
            </a:r>
            <a:r>
              <a:rPr lang="en-IN" dirty="0"/>
              <a:t> &amp; </a:t>
            </a:r>
            <a:r>
              <a:rPr lang="en-IN" dirty="0" err="1"/>
              <a:t>R.E.Woods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244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00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948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6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517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46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70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25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232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B6E4831-481F-4AF1-9D8E-170CD6E1C3F5}" type="datetimeFigureOut">
              <a:rPr lang="en-IN" smtClean="0"/>
              <a:pPr/>
              <a:t>04-11-2025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9C11CE39-2868-44A2-A0C6-827D458F7A8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97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386733" y="2069736"/>
            <a:ext cx="274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rgbClr val="0098A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CE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069848" y="850505"/>
            <a:ext cx="7315200" cy="4479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40BAD2"/>
              </a:buClr>
              <a:buSzTx/>
              <a:buFont typeface="Wingdings 2" pitchFamily="18" charset="2"/>
              <a:buNone/>
              <a:tabLst/>
              <a:defRPr/>
            </a:pPr>
            <a:endParaRPr kumimoji="0" lang="en-IN" sz="7200" b="1" i="0" u="none" strike="noStrike" kern="1200" cap="none" spc="0" normalizeH="0" baseline="0" noProof="0" dirty="0">
              <a:ln>
                <a:noFill/>
              </a:ln>
              <a:solidFill>
                <a:srgbClr val="40BAD2">
                  <a:lumMod val="20000"/>
                  <a:lumOff val="8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86733" y="3005090"/>
            <a:ext cx="2743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rgbClr val="0098A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Unit -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98A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7</a:t>
            </a:r>
          </a:p>
          <a:p>
            <a:pPr algn="ctr">
              <a:defRPr/>
            </a:pPr>
            <a:r>
              <a:rPr lang="en-IN" sz="2200" b="1" dirty="0">
                <a:solidFill>
                  <a:srgbClr val="0098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Pointers</a:t>
            </a:r>
            <a:r>
              <a:rPr lang="en-IN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IN" sz="2200" b="1" dirty="0">
                <a:solidFill>
                  <a:srgbClr val="0098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	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200" b="1" dirty="0">
                <a:solidFill>
                  <a:srgbClr val="0098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Allocation 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98A3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2620370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01CE2101 - Computer Programming </a:t>
            </a: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EBD7011-ACD2-17B3-5AA5-EB0A289F82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949" y="985663"/>
            <a:ext cx="2318768" cy="76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686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1F68-78F2-4B27-B0E9-C1CF9FB5A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Pointer 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D25E5-022F-4E88-9B67-6C5C3C3A6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752462" cy="512064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The pointer is a variable which stores the address of another variable. This variable can be of type int, char, array, function, or any other pointer. </a:t>
            </a:r>
          </a:p>
          <a:p>
            <a:pPr algn="just"/>
            <a:r>
              <a:rPr lang="en-IN" sz="2800" dirty="0">
                <a:solidFill>
                  <a:srgbClr val="333333"/>
                </a:solidFill>
              </a:rPr>
              <a:t>E</a:t>
            </a:r>
            <a:r>
              <a:rPr lang="en-IN" sz="2800" b="0" i="0" dirty="0">
                <a:solidFill>
                  <a:srgbClr val="333333"/>
                </a:solidFill>
                <a:effectLst/>
              </a:rPr>
              <a:t>xample:  to define a pointer which stores the address of an integer.</a:t>
            </a:r>
          </a:p>
          <a:p>
            <a:pPr marL="502920" lvl="1" indent="0" algn="just">
              <a:buNone/>
            </a:pPr>
            <a:r>
              <a:rPr lang="en-IN" sz="2800" b="1" i="0" dirty="0">
                <a:solidFill>
                  <a:srgbClr val="0000CC"/>
                </a:solidFill>
                <a:effectLst/>
              </a:rPr>
              <a:t>int</a:t>
            </a:r>
            <a:r>
              <a:rPr lang="en-IN" sz="2800" b="0" i="0" dirty="0">
                <a:solidFill>
                  <a:srgbClr val="000000"/>
                </a:solidFill>
                <a:effectLst/>
              </a:rPr>
              <a:t> n = 10;   </a:t>
            </a:r>
          </a:p>
          <a:p>
            <a:pPr marL="502920" lvl="1" indent="0" algn="just">
              <a:buNone/>
            </a:pPr>
            <a:r>
              <a:rPr lang="en-IN" sz="2800" b="1" i="0" dirty="0">
                <a:solidFill>
                  <a:srgbClr val="0000CC"/>
                </a:solidFill>
                <a:effectLst/>
              </a:rPr>
              <a:t>Int</a:t>
            </a:r>
            <a:r>
              <a:rPr lang="en-IN" sz="2800" b="0" i="0" dirty="0">
                <a:solidFill>
                  <a:srgbClr val="000000"/>
                </a:solidFill>
                <a:effectLst/>
              </a:rPr>
              <a:t>*p = &amp;n; </a:t>
            </a:r>
            <a:r>
              <a:rPr lang="en-IN" sz="2800" b="0" i="0" dirty="0">
                <a:solidFill>
                  <a:srgbClr val="008200"/>
                </a:solidFill>
                <a:effectLst/>
              </a:rPr>
              <a:t>// Variable p of type pointer is </a:t>
            </a:r>
          </a:p>
          <a:p>
            <a:pPr marL="502920" lvl="1" indent="0" algn="just">
              <a:buNone/>
            </a:pPr>
            <a:r>
              <a:rPr lang="en-IN" sz="2800" b="0" i="0" dirty="0">
                <a:solidFill>
                  <a:srgbClr val="008200"/>
                </a:solidFill>
                <a:effectLst/>
              </a:rPr>
              <a:t>pointing to the address of the variable n of type integer. </a:t>
            </a:r>
            <a:endParaRPr lang="en-IN" sz="2800" b="0" i="0" dirty="0">
              <a:solidFill>
                <a:srgbClr val="000000"/>
              </a:solidFill>
              <a:effectLst/>
            </a:endParaRPr>
          </a:p>
          <a:p>
            <a:endParaRPr lang="en-I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949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3FADC-1D60-42A7-8D31-BBDFD8CA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Declaring a pointer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3C8B3-00D3-4E03-8DAC-CC2825DF2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The pointer in c language can be declared using </a:t>
            </a:r>
            <a:r>
              <a:rPr lang="en-IN" sz="2800" dirty="0">
                <a:solidFill>
                  <a:srgbClr val="0000CC"/>
                </a:solidFill>
              </a:rPr>
              <a:t>* (asterisk symbol).</a:t>
            </a:r>
          </a:p>
          <a:p>
            <a:r>
              <a:rPr lang="en-IN" sz="2800" dirty="0">
                <a:solidFill>
                  <a:schemeClr val="tx1"/>
                </a:solidFill>
              </a:rPr>
              <a:t> It is also known as indirection pointer used to dereference a pointer.</a:t>
            </a:r>
          </a:p>
          <a:p>
            <a:endParaRPr lang="en-IN" sz="2800" dirty="0">
              <a:solidFill>
                <a:schemeClr val="tx1"/>
              </a:solidFill>
            </a:endParaRPr>
          </a:p>
          <a:p>
            <a:pPr marL="502920" lvl="1" indent="0">
              <a:buNone/>
            </a:pPr>
            <a:r>
              <a:rPr lang="en-IN" sz="2800" dirty="0">
                <a:solidFill>
                  <a:srgbClr val="0000CC"/>
                </a:solidFill>
              </a:rPr>
              <a:t>int *a;</a:t>
            </a:r>
            <a:r>
              <a:rPr lang="en-IN" sz="2800" dirty="0">
                <a:solidFill>
                  <a:schemeClr val="tx1"/>
                </a:solidFill>
              </a:rPr>
              <a:t>     //pointer to int  </a:t>
            </a:r>
          </a:p>
          <a:p>
            <a:pPr marL="502920" lvl="1" indent="0">
              <a:buNone/>
            </a:pPr>
            <a:r>
              <a:rPr lang="en-IN" sz="2800" dirty="0">
                <a:solidFill>
                  <a:srgbClr val="0000CC"/>
                </a:solidFill>
              </a:rPr>
              <a:t>char *c;</a:t>
            </a:r>
            <a:r>
              <a:rPr lang="en-IN" sz="2800" dirty="0">
                <a:solidFill>
                  <a:schemeClr val="tx1"/>
                </a:solidFill>
              </a:rPr>
              <a:t>   //pointer to char </a:t>
            </a:r>
          </a:p>
        </p:txBody>
      </p:sp>
    </p:spTree>
    <p:extLst>
      <p:ext uri="{BB962C8B-B14F-4D97-AF65-F5344CB8AC3E}">
        <p14:creationId xmlns:p14="http://schemas.microsoft.com/office/powerpoint/2010/main" val="3821318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AC678-A967-4CE5-A7A6-E6B1D2826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Pointer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214A4E-0157-45CE-96D4-EA77C82B6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863" b="12879"/>
          <a:stretch/>
        </p:blipFill>
        <p:spPr>
          <a:xfrm>
            <a:off x="4793225" y="511101"/>
            <a:ext cx="4420419" cy="2426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5BFE26-C061-46DA-8A61-800EF1ADE7CA}"/>
              </a:ext>
            </a:extLst>
          </p:cNvPr>
          <p:cNvSpPr txBox="1"/>
          <p:nvPr/>
        </p:nvSpPr>
        <p:spPr>
          <a:xfrm>
            <a:off x="3642853" y="3115288"/>
            <a:ext cx="80378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800" dirty="0"/>
              <a:t>Here pointer variable stores the address of number variable, i.e., fff4. The value of number variable is 50. But the address of pointer variable p is aaa3.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800" dirty="0"/>
              <a:t>By the help of * (indirection operator), we can print the value of pointer variable p.</a:t>
            </a:r>
          </a:p>
        </p:txBody>
      </p:sp>
    </p:spTree>
    <p:extLst>
      <p:ext uri="{BB962C8B-B14F-4D97-AF65-F5344CB8AC3E}">
        <p14:creationId xmlns:p14="http://schemas.microsoft.com/office/powerpoint/2010/main" val="3825988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CD42-59DC-4D7D-A9E9-1CDC4AF7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CAEBF-3DAE-408E-90EF-F3296735B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7"/>
            <a:ext cx="7737713" cy="53597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#include&lt;stdio.h&gt;  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int main()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{  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int number=50;    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int *p;      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p=&amp;number;</a:t>
            </a:r>
          </a:p>
          <a:p>
            <a:pPr marL="0" indent="0">
              <a:buNone/>
            </a:pPr>
            <a:r>
              <a:rPr lang="en-IN" sz="2800" dirty="0" err="1">
                <a:solidFill>
                  <a:schemeClr val="tx1"/>
                </a:solidFill>
              </a:rPr>
              <a:t>printf</a:t>
            </a:r>
            <a:r>
              <a:rPr lang="en-IN" sz="2800" dirty="0">
                <a:solidFill>
                  <a:schemeClr val="tx1"/>
                </a:solidFill>
              </a:rPr>
              <a:t>("Address of p variable is %x \</a:t>
            </a:r>
            <a:r>
              <a:rPr lang="en-IN" sz="2800" dirty="0" err="1">
                <a:solidFill>
                  <a:schemeClr val="tx1"/>
                </a:solidFill>
              </a:rPr>
              <a:t>n",p</a:t>
            </a:r>
            <a:r>
              <a:rPr lang="en-IN" sz="2800" dirty="0">
                <a:solidFill>
                  <a:schemeClr val="tx1"/>
                </a:solidFill>
              </a:rPr>
              <a:t>); </a:t>
            </a:r>
          </a:p>
          <a:p>
            <a:pPr marL="0" indent="0">
              <a:buNone/>
            </a:pPr>
            <a:r>
              <a:rPr lang="en-IN" sz="2800" dirty="0" err="1">
                <a:solidFill>
                  <a:schemeClr val="tx1"/>
                </a:solidFill>
              </a:rPr>
              <a:t>printf</a:t>
            </a:r>
            <a:r>
              <a:rPr lang="en-IN" sz="2800" dirty="0">
                <a:solidFill>
                  <a:schemeClr val="tx1"/>
                </a:solidFill>
              </a:rPr>
              <a:t>("Value of p variable is %d \n",*p); 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return 0;  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}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49562-0740-4723-8978-4FC18ECF5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486" y="973394"/>
            <a:ext cx="4059493" cy="245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50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4AE0-379D-4B00-BE14-907D71382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/>
              <a:t>Pointer to array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C9662-7C44-40FA-BDD9-DF9439F19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767209" cy="5120640"/>
          </a:xfrm>
        </p:spPr>
        <p:txBody>
          <a:bodyPr>
            <a:normAutofit/>
          </a:bodyPr>
          <a:lstStyle/>
          <a:p>
            <a:pPr marL="265113" lvl="1" indent="-265113"/>
            <a:r>
              <a:rPr lang="en-IN" sz="2800" b="1" dirty="0">
                <a:solidFill>
                  <a:schemeClr val="tx1"/>
                </a:solidFill>
              </a:rPr>
              <a:t>Pointer to an array </a:t>
            </a:r>
            <a:r>
              <a:rPr lang="en-IN" sz="2800" dirty="0">
                <a:solidFill>
                  <a:schemeClr val="tx1"/>
                </a:solidFill>
              </a:rPr>
              <a:t>is also known as </a:t>
            </a:r>
            <a:r>
              <a:rPr lang="en-IN" sz="2800" b="1" dirty="0">
                <a:solidFill>
                  <a:schemeClr val="tx1"/>
                </a:solidFill>
              </a:rPr>
              <a:t>array pointer</a:t>
            </a:r>
            <a:r>
              <a:rPr lang="en-IN" sz="2800" dirty="0">
                <a:solidFill>
                  <a:schemeClr val="tx1"/>
                </a:solidFill>
              </a:rPr>
              <a:t>. We are using the pointer to access the components of the array.</a:t>
            </a:r>
          </a:p>
          <a:p>
            <a:pPr marL="265113" lvl="1" indent="-265113"/>
            <a:r>
              <a:rPr lang="en-IN" sz="2800" b="1" dirty="0">
                <a:solidFill>
                  <a:schemeClr val="tx1"/>
                </a:solidFill>
              </a:rPr>
              <a:t>Example:</a:t>
            </a:r>
          </a:p>
          <a:p>
            <a:pPr marL="0" lvl="1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	</a:t>
            </a:r>
            <a:r>
              <a:rPr lang="en-IN" sz="2800" dirty="0">
                <a:solidFill>
                  <a:srgbClr val="0000CC"/>
                </a:solidFill>
              </a:rPr>
              <a:t>int </a:t>
            </a:r>
            <a:r>
              <a:rPr lang="en-IN" sz="2800" dirty="0" err="1">
                <a:solidFill>
                  <a:srgbClr val="0000CC"/>
                </a:solidFill>
              </a:rPr>
              <a:t>arr</a:t>
            </a:r>
            <a:r>
              <a:rPr lang="en-IN" sz="2800" dirty="0">
                <a:solidFill>
                  <a:srgbClr val="0000CC"/>
                </a:solidFill>
              </a:rPr>
              <a:t>[10];  </a:t>
            </a:r>
          </a:p>
          <a:p>
            <a:pPr marL="0" lvl="1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	</a:t>
            </a:r>
            <a:r>
              <a:rPr lang="en-IN" sz="2800" dirty="0">
                <a:solidFill>
                  <a:srgbClr val="0000CC"/>
                </a:solidFill>
              </a:rPr>
              <a:t>int *p[10]=&amp;</a:t>
            </a:r>
            <a:r>
              <a:rPr lang="en-IN" sz="2800" dirty="0" err="1">
                <a:solidFill>
                  <a:srgbClr val="0000CC"/>
                </a:solidFill>
              </a:rPr>
              <a:t>arr</a:t>
            </a:r>
            <a:r>
              <a:rPr lang="en-IN" sz="2800" dirty="0">
                <a:solidFill>
                  <a:srgbClr val="0000CC"/>
                </a:solidFill>
              </a:rPr>
              <a:t>; </a:t>
            </a:r>
            <a:r>
              <a:rPr lang="en-IN" sz="2800" dirty="0">
                <a:solidFill>
                  <a:schemeClr val="tx1"/>
                </a:solidFill>
              </a:rPr>
              <a:t>// Variable p of type pointer 	is pointing to the address of an integer array 	arr. </a:t>
            </a:r>
          </a:p>
        </p:txBody>
      </p:sp>
    </p:spTree>
    <p:extLst>
      <p:ext uri="{BB962C8B-B14F-4D97-AF65-F5344CB8AC3E}">
        <p14:creationId xmlns:p14="http://schemas.microsoft.com/office/powerpoint/2010/main" val="4248558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11EF7-DF99-408C-B42D-54033253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Pointer to a function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FA0F2-C708-4BED-ACDE-762DC0FFA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46100" lvl="1" indent="-457200"/>
            <a:r>
              <a:rPr lang="en-IN" sz="2800" dirty="0">
                <a:solidFill>
                  <a:schemeClr val="tx1"/>
                </a:solidFill>
              </a:rPr>
              <a:t>A pointer to a function points to the address of the executable code of the function. </a:t>
            </a:r>
          </a:p>
          <a:p>
            <a:pPr marL="546100" lvl="1" indent="-457200"/>
            <a:r>
              <a:rPr lang="en-IN" sz="2800" dirty="0">
                <a:solidFill>
                  <a:schemeClr val="tx1"/>
                </a:solidFill>
              </a:rPr>
              <a:t>You can use pointers to call functions and to pass functions as arguments to other functions. </a:t>
            </a:r>
          </a:p>
          <a:p>
            <a:pPr marL="546100" lvl="1" indent="-457200"/>
            <a:r>
              <a:rPr lang="en-IN" sz="2800" dirty="0">
                <a:solidFill>
                  <a:schemeClr val="tx1"/>
                </a:solidFill>
              </a:rPr>
              <a:t>You cannot perform pointer arithmetic on pointers to functions.</a:t>
            </a:r>
          </a:p>
          <a:p>
            <a:pPr marL="530225" lvl="1" indent="-441325"/>
            <a:r>
              <a:rPr lang="en-IN" sz="2800" b="1" dirty="0">
                <a:solidFill>
                  <a:schemeClr val="tx1"/>
                </a:solidFill>
              </a:rPr>
              <a:t>Example </a:t>
            </a:r>
          </a:p>
          <a:p>
            <a:pPr marL="502920" lvl="1" indent="0">
              <a:buNone/>
            </a:pPr>
            <a:r>
              <a:rPr lang="en-IN" sz="2800" dirty="0">
                <a:solidFill>
                  <a:srgbClr val="0000CC"/>
                </a:solidFill>
              </a:rPr>
              <a:t>void show (int);  </a:t>
            </a:r>
          </a:p>
          <a:p>
            <a:pPr marL="502920" lvl="1" indent="0">
              <a:buNone/>
            </a:pPr>
            <a:r>
              <a:rPr lang="en-IN" sz="2800" dirty="0">
                <a:solidFill>
                  <a:srgbClr val="0000CC"/>
                </a:solidFill>
              </a:rPr>
              <a:t>void(*p)(int) = &amp;display; </a:t>
            </a:r>
            <a:r>
              <a:rPr lang="en-IN" sz="2800" dirty="0">
                <a:solidFill>
                  <a:schemeClr val="tx1"/>
                </a:solidFill>
              </a:rPr>
              <a:t>// Pointer p is pointing to the address of a function </a:t>
            </a:r>
          </a:p>
        </p:txBody>
      </p:sp>
    </p:spTree>
    <p:extLst>
      <p:ext uri="{BB962C8B-B14F-4D97-AF65-F5344CB8AC3E}">
        <p14:creationId xmlns:p14="http://schemas.microsoft.com/office/powerpoint/2010/main" val="2831931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8FF4-3D6F-4539-86AE-8C4FE63A1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Pointer to a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9ECC3-8BD4-43F4-B42D-E41A7F99D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The type of a pointer to a function is based on both the return type and parameter types of the function.</a:t>
            </a:r>
          </a:p>
          <a:p>
            <a:r>
              <a:rPr lang="en-IN" sz="2800" dirty="0">
                <a:solidFill>
                  <a:schemeClr val="tx1"/>
                </a:solidFill>
              </a:rPr>
              <a:t>A declaration of a pointer to a function must have the pointer name in parentheses. Function parameters have precedence over pointers in declarations, so parentheses are required to alter the precedence and declare a pointer to a function. </a:t>
            </a:r>
          </a:p>
          <a:p>
            <a:r>
              <a:rPr lang="en-IN" sz="2800" dirty="0">
                <a:solidFill>
                  <a:schemeClr val="tx1"/>
                </a:solidFill>
              </a:rPr>
              <a:t>Without them, the compiler interprets the declaration as a function that returns a pointer to a specified return type</a:t>
            </a:r>
          </a:p>
        </p:txBody>
      </p:sp>
    </p:spTree>
    <p:extLst>
      <p:ext uri="{BB962C8B-B14F-4D97-AF65-F5344CB8AC3E}">
        <p14:creationId xmlns:p14="http://schemas.microsoft.com/office/powerpoint/2010/main" val="1813192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6762-1DDF-40C0-A1F9-6A924F65A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Advantage of pointer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A1ECB-39CF-4984-93A2-19305EF0E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678719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1) Pointer reduces the code and improves the performance, it is used to retrieving strings, trees, etc. and used with arrays, structures, and functions.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2) We can return multiple values from a function using the pointer.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3) It makes you able to access any memory location in the computer's memory.</a:t>
            </a:r>
          </a:p>
        </p:txBody>
      </p:sp>
    </p:spTree>
    <p:extLst>
      <p:ext uri="{BB962C8B-B14F-4D97-AF65-F5344CB8AC3E}">
        <p14:creationId xmlns:p14="http://schemas.microsoft.com/office/powerpoint/2010/main" val="9301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36D70-9642-4CEA-8774-432723FA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Usage of pointer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9EC58-EE22-4485-9F97-812001301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1344" y="719647"/>
            <a:ext cx="8023122" cy="5418705"/>
          </a:xfrm>
        </p:spPr>
        <p:txBody>
          <a:bodyPr/>
          <a:lstStyle/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There are many applications of pointers in c language.</a:t>
            </a:r>
          </a:p>
          <a:p>
            <a:pPr marL="0" indent="0" algn="just">
              <a:buNone/>
            </a:pPr>
            <a:r>
              <a:rPr lang="en-IN" sz="2800" b="1" i="0" dirty="0">
                <a:solidFill>
                  <a:srgbClr val="FF0000"/>
                </a:solidFill>
                <a:effectLst/>
              </a:rPr>
              <a:t>1) Dynamic memory allocation</a:t>
            </a:r>
            <a:endParaRPr lang="en-IN" sz="2800" b="0" i="0" dirty="0">
              <a:solidFill>
                <a:srgbClr val="FF0000"/>
              </a:solidFill>
              <a:effectLst/>
            </a:endParaRPr>
          </a:p>
          <a:p>
            <a:pPr marL="0" indent="0" algn="just">
              <a:buNone/>
            </a:pPr>
            <a:r>
              <a:rPr lang="en-IN" sz="2800" b="0" i="0" dirty="0">
                <a:solidFill>
                  <a:schemeClr val="tx1"/>
                </a:solidFill>
                <a:effectLst/>
              </a:rPr>
              <a:t>In c language, we can dynamically allocate memory using malloc() and </a:t>
            </a:r>
            <a:r>
              <a:rPr lang="en-IN" sz="2800" b="0" i="0" dirty="0" err="1">
                <a:solidFill>
                  <a:schemeClr val="tx1"/>
                </a:solidFill>
                <a:effectLst/>
              </a:rPr>
              <a:t>calloc</a:t>
            </a:r>
            <a:r>
              <a:rPr lang="en-IN" sz="2800" b="0" i="0" dirty="0">
                <a:solidFill>
                  <a:schemeClr val="tx1"/>
                </a:solidFill>
                <a:effectLst/>
              </a:rPr>
              <a:t>() functions where the pointer is used.</a:t>
            </a:r>
          </a:p>
          <a:p>
            <a:pPr marL="0" indent="0" algn="just">
              <a:buNone/>
            </a:pPr>
            <a:r>
              <a:rPr lang="en-IN" sz="2800" b="1" i="0" dirty="0">
                <a:solidFill>
                  <a:srgbClr val="FF0000"/>
                </a:solidFill>
                <a:effectLst/>
              </a:rPr>
              <a:t>2) Arrays, Functions, and Structures</a:t>
            </a:r>
            <a:endParaRPr lang="en-IN" sz="2800" b="0" i="0" dirty="0">
              <a:solidFill>
                <a:srgbClr val="FF0000"/>
              </a:solidFill>
              <a:effectLst/>
            </a:endParaRPr>
          </a:p>
          <a:p>
            <a:pPr marL="0" indent="0" algn="just">
              <a:buNone/>
            </a:pPr>
            <a:r>
              <a:rPr lang="en-IN" sz="2800" b="0" i="0" dirty="0">
                <a:solidFill>
                  <a:schemeClr val="tx1"/>
                </a:solidFill>
                <a:effectLst/>
              </a:rPr>
              <a:t>Pointers in c language are widely used in arrays, functions, and structures. It reduces the code and improves the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4532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5E520-776C-43B4-AF17-AD91BDBCD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Address Of (&amp;) Operator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2C8A-B72D-478A-8210-3DCD26FC9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929443" cy="5120640"/>
          </a:xfrm>
        </p:spPr>
        <p:txBody>
          <a:bodyPr>
            <a:normAutofit lnSpcReduction="10000"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The address of operator '&amp;' returns the address of a variable. But, we need to use %u to display the address of a variable.</a:t>
            </a:r>
          </a:p>
          <a:p>
            <a:r>
              <a:rPr lang="en-IN" sz="2800" dirty="0">
                <a:solidFill>
                  <a:schemeClr val="tx1"/>
                </a:solidFill>
              </a:rPr>
              <a:t>Example </a:t>
            </a:r>
          </a:p>
          <a:p>
            <a:pPr marL="502920" lvl="1" indent="0" algn="just">
              <a:buNone/>
            </a:pPr>
            <a:r>
              <a:rPr lang="en-IN" sz="2800" b="0" i="0" dirty="0">
                <a:solidFill>
                  <a:srgbClr val="0000FF"/>
                </a:solidFill>
                <a:effectLst/>
              </a:rPr>
              <a:t>#include&lt;stdio.h&gt;</a:t>
            </a:r>
            <a:r>
              <a:rPr lang="en-IN" sz="2800" b="0" i="0" dirty="0">
                <a:solidFill>
                  <a:srgbClr val="000000"/>
                </a:solidFill>
                <a:effectLst/>
              </a:rPr>
              <a:t>  </a:t>
            </a:r>
          </a:p>
          <a:p>
            <a:pPr marL="502920" lvl="1" indent="0" algn="just">
              <a:buNone/>
            </a:pPr>
            <a:r>
              <a:rPr lang="en-IN" sz="2800" b="1" i="0" dirty="0">
                <a:solidFill>
                  <a:srgbClr val="2E8B57"/>
                </a:solidFill>
                <a:effectLst/>
              </a:rPr>
              <a:t>int</a:t>
            </a:r>
            <a:r>
              <a:rPr lang="en-IN" sz="2800" b="0" i="0" dirty="0">
                <a:solidFill>
                  <a:srgbClr val="000000"/>
                </a:solidFill>
                <a:effectLst/>
              </a:rPr>
              <a:t> main()</a:t>
            </a:r>
          </a:p>
          <a:p>
            <a:pPr marL="502920" lvl="1" indent="0" algn="just">
              <a:buNone/>
            </a:pPr>
            <a:r>
              <a:rPr lang="en-IN" sz="2800" b="0" i="0" dirty="0">
                <a:solidFill>
                  <a:srgbClr val="000000"/>
                </a:solidFill>
                <a:effectLst/>
              </a:rPr>
              <a:t>{  </a:t>
            </a:r>
          </a:p>
          <a:p>
            <a:pPr marL="502920" lvl="1" indent="0" algn="just">
              <a:buNone/>
            </a:pPr>
            <a:r>
              <a:rPr lang="en-IN" sz="2800" b="1" i="0" dirty="0">
                <a:solidFill>
                  <a:srgbClr val="2E8B57"/>
                </a:solidFill>
                <a:effectLst/>
              </a:rPr>
              <a:t>int</a:t>
            </a:r>
            <a:r>
              <a:rPr lang="en-IN" sz="2800" b="0" i="0" dirty="0">
                <a:solidFill>
                  <a:srgbClr val="000000"/>
                </a:solidFill>
                <a:effectLst/>
              </a:rPr>
              <a:t> number=50;   </a:t>
            </a:r>
          </a:p>
          <a:p>
            <a:pPr marL="502920" lvl="1" indent="0" algn="just">
              <a:buNone/>
            </a:pPr>
            <a:r>
              <a:rPr lang="en-IN" sz="2800" b="0" i="0" dirty="0" err="1">
                <a:solidFill>
                  <a:srgbClr val="000000"/>
                </a:solidFill>
                <a:effectLst/>
              </a:rPr>
              <a:t>printf</a:t>
            </a:r>
            <a:r>
              <a:rPr lang="en-IN" sz="2800" b="0" i="0" dirty="0">
                <a:solidFill>
                  <a:srgbClr val="000000"/>
                </a:solidFill>
                <a:effectLst/>
              </a:rPr>
              <a:t>(</a:t>
            </a:r>
            <a:r>
              <a:rPr lang="en-IN" sz="2800" b="0" i="0" dirty="0">
                <a:solidFill>
                  <a:srgbClr val="0000FF"/>
                </a:solidFill>
                <a:effectLst/>
              </a:rPr>
              <a:t>"value of number is %d, address of number is %</a:t>
            </a:r>
            <a:r>
              <a:rPr lang="en-IN" sz="2800" b="0" i="0" dirty="0" err="1">
                <a:solidFill>
                  <a:srgbClr val="0000FF"/>
                </a:solidFill>
                <a:effectLst/>
              </a:rPr>
              <a:t>u"</a:t>
            </a:r>
            <a:r>
              <a:rPr lang="en-IN" sz="2800" b="0" i="0" dirty="0" err="1">
                <a:solidFill>
                  <a:srgbClr val="000000"/>
                </a:solidFill>
                <a:effectLst/>
              </a:rPr>
              <a:t>,number,&amp;number</a:t>
            </a:r>
            <a:r>
              <a:rPr lang="en-IN" sz="2800" b="0" i="0" dirty="0">
                <a:solidFill>
                  <a:srgbClr val="000000"/>
                </a:solidFill>
                <a:effectLst/>
              </a:rPr>
              <a:t>);    </a:t>
            </a:r>
          </a:p>
          <a:p>
            <a:pPr marL="502920" lvl="1" indent="0" algn="just">
              <a:buNone/>
            </a:pPr>
            <a:r>
              <a:rPr lang="en-IN" sz="2800" b="1" i="0" dirty="0">
                <a:solidFill>
                  <a:srgbClr val="006699"/>
                </a:solidFill>
                <a:effectLst/>
              </a:rPr>
              <a:t>return</a:t>
            </a:r>
            <a:r>
              <a:rPr lang="en-IN" sz="2800" b="0" i="0" dirty="0">
                <a:solidFill>
                  <a:srgbClr val="000000"/>
                </a:solidFill>
                <a:effectLst/>
              </a:rPr>
              <a:t> 0;  </a:t>
            </a:r>
          </a:p>
          <a:p>
            <a:pPr marL="502920" lvl="1" indent="0" algn="just">
              <a:buNone/>
            </a:pPr>
            <a:r>
              <a:rPr lang="en-IN" sz="2800" b="0" i="0" dirty="0">
                <a:solidFill>
                  <a:srgbClr val="000000"/>
                </a:solidFill>
                <a:effectLst/>
              </a:rPr>
              <a:t>}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F1B25-7BD3-4EB0-9633-59F5610DE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181" y="1851843"/>
            <a:ext cx="4103892" cy="187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469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66AF-9D0E-4634-B98B-47DC75E4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Pointer Arithmetic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34420-23AD-4E12-B130-7247966FF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1" y="353961"/>
            <a:ext cx="8141110" cy="6150078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We can perform arithmetic operations on the pointers like addition, subtraction, etc. </a:t>
            </a:r>
          </a:p>
          <a:p>
            <a:r>
              <a:rPr lang="en-IN" sz="2800" dirty="0">
                <a:solidFill>
                  <a:schemeClr val="tx1"/>
                </a:solidFill>
              </a:rPr>
              <a:t>However, as we know that pointer contains the address, the result of an arithmetic operation performed on the pointer will also be a pointer if the other operand is of type integer. </a:t>
            </a:r>
          </a:p>
          <a:p>
            <a:r>
              <a:rPr lang="en-IN" sz="2800" dirty="0">
                <a:solidFill>
                  <a:schemeClr val="tx1"/>
                </a:solidFill>
              </a:rPr>
              <a:t>In pointer-from-pointer subtraction, the result will be an integer value. Following arithmetic operations are possible on the pointer </a:t>
            </a:r>
          </a:p>
          <a:p>
            <a:pPr lvl="1"/>
            <a:r>
              <a:rPr lang="en-IN" sz="2800" dirty="0">
                <a:solidFill>
                  <a:schemeClr val="tx1"/>
                </a:solidFill>
              </a:rPr>
              <a:t>Increment</a:t>
            </a:r>
          </a:p>
          <a:p>
            <a:pPr lvl="1"/>
            <a:r>
              <a:rPr lang="en-IN" sz="2800" dirty="0">
                <a:solidFill>
                  <a:schemeClr val="tx1"/>
                </a:solidFill>
              </a:rPr>
              <a:t>Decrement</a:t>
            </a:r>
          </a:p>
          <a:p>
            <a:pPr lvl="1"/>
            <a:r>
              <a:rPr lang="en-IN" sz="2800" dirty="0">
                <a:solidFill>
                  <a:schemeClr val="tx1"/>
                </a:solidFill>
              </a:rPr>
              <a:t>Addition</a:t>
            </a:r>
          </a:p>
          <a:p>
            <a:pPr lvl="1"/>
            <a:r>
              <a:rPr lang="en-IN" sz="2800" dirty="0">
                <a:solidFill>
                  <a:schemeClr val="tx1"/>
                </a:solidFill>
              </a:rPr>
              <a:t>Subtraction</a:t>
            </a:r>
          </a:p>
          <a:p>
            <a:pPr lvl="1"/>
            <a:r>
              <a:rPr lang="en-IN" sz="2800" dirty="0">
                <a:solidFill>
                  <a:schemeClr val="tx1"/>
                </a:solidFill>
              </a:rPr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2536032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80164-702D-4C11-8668-19B11B11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Incrementing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30097-E67D-4F83-9840-E5B784232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1342" y="339213"/>
            <a:ext cx="8207739" cy="631231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If we increment a pointer by 1, the pointer will start pointing to the immediate next location. </a:t>
            </a:r>
          </a:p>
          <a:p>
            <a:r>
              <a:rPr lang="en-IN" sz="2800" dirty="0">
                <a:solidFill>
                  <a:schemeClr val="tx1"/>
                </a:solidFill>
              </a:rPr>
              <a:t>It different from the general arithmetic since the value of the pointer will get increased by the size of the data type to which the pointer is pointing.</a:t>
            </a:r>
          </a:p>
          <a:p>
            <a:r>
              <a:rPr lang="en-IN" sz="2800" dirty="0">
                <a:solidFill>
                  <a:schemeClr val="tx1"/>
                </a:solidFill>
              </a:rPr>
              <a:t>We can traverse an array by using the increment operation on a pointer which will keep pointing to every element of the array, perform some operation on that, and update itself in a loop.</a:t>
            </a:r>
          </a:p>
          <a:p>
            <a:r>
              <a:rPr lang="en-IN" sz="2800" dirty="0">
                <a:solidFill>
                  <a:schemeClr val="tx1"/>
                </a:solidFill>
              </a:rPr>
              <a:t>Syntax:</a:t>
            </a:r>
          </a:p>
          <a:p>
            <a:pPr marL="502920" lvl="1" indent="0">
              <a:buNone/>
            </a:pPr>
            <a:r>
              <a:rPr lang="en-IN" sz="2600" dirty="0" err="1">
                <a:solidFill>
                  <a:srgbClr val="FF0000"/>
                </a:solidFill>
              </a:rPr>
              <a:t>new_address</a:t>
            </a:r>
            <a:r>
              <a:rPr lang="en-IN" sz="2600" dirty="0">
                <a:solidFill>
                  <a:srgbClr val="FF0000"/>
                </a:solidFill>
              </a:rPr>
              <a:t>= </a:t>
            </a:r>
            <a:r>
              <a:rPr lang="en-IN" sz="2600" dirty="0" err="1">
                <a:solidFill>
                  <a:srgbClr val="FF0000"/>
                </a:solidFill>
              </a:rPr>
              <a:t>current_address</a:t>
            </a:r>
            <a:r>
              <a:rPr lang="en-IN" sz="2600" dirty="0">
                <a:solidFill>
                  <a:srgbClr val="FF0000"/>
                </a:solidFill>
              </a:rPr>
              <a:t> + </a:t>
            </a:r>
            <a:r>
              <a:rPr lang="en-IN" sz="2600" dirty="0" err="1">
                <a:solidFill>
                  <a:srgbClr val="FF0000"/>
                </a:solidFill>
              </a:rPr>
              <a:t>i</a:t>
            </a:r>
            <a:r>
              <a:rPr lang="en-IN" sz="2600" dirty="0">
                <a:solidFill>
                  <a:srgbClr val="FF0000"/>
                </a:solidFill>
              </a:rPr>
              <a:t> * </a:t>
            </a:r>
            <a:r>
              <a:rPr lang="en-IN" sz="2600" dirty="0" err="1">
                <a:solidFill>
                  <a:srgbClr val="FF0000"/>
                </a:solidFill>
              </a:rPr>
              <a:t>size_of</a:t>
            </a:r>
            <a:r>
              <a:rPr lang="en-IN" sz="2600" dirty="0">
                <a:solidFill>
                  <a:srgbClr val="FF0000"/>
                </a:solidFill>
              </a:rPr>
              <a:t>(data type)  </a:t>
            </a:r>
          </a:p>
          <a:p>
            <a:r>
              <a:rPr lang="en-IN" sz="2800" dirty="0">
                <a:solidFill>
                  <a:schemeClr val="tx1"/>
                </a:solidFill>
              </a:rPr>
              <a:t>Where </a:t>
            </a:r>
            <a:r>
              <a:rPr lang="en-IN" sz="2800" dirty="0" err="1">
                <a:solidFill>
                  <a:schemeClr val="tx1"/>
                </a:solidFill>
              </a:rPr>
              <a:t>i</a:t>
            </a:r>
            <a:r>
              <a:rPr lang="en-IN" sz="2800" dirty="0">
                <a:solidFill>
                  <a:schemeClr val="tx1"/>
                </a:solidFill>
              </a:rPr>
              <a:t> is the number by which the pointer get increased.</a:t>
            </a:r>
          </a:p>
          <a:p>
            <a:pPr marL="0" indent="0">
              <a:buNone/>
            </a:pPr>
            <a:endParaRPr lang="en-I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028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EEC3-7B57-4FAC-B507-62D7601AF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0C256-BBA1-4463-890C-A2CC9D7FE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427703"/>
            <a:ext cx="7855700" cy="64302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#include&lt;stdio.h&gt;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int main()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{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int number=50;      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int *p;//pointer to int    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p=&amp;number;//stores the address of number variable        </a:t>
            </a:r>
          </a:p>
          <a:p>
            <a:pPr marL="0" indent="0">
              <a:buNone/>
            </a:pPr>
            <a:r>
              <a:rPr lang="en-IN" sz="2400" dirty="0" err="1">
                <a:solidFill>
                  <a:schemeClr val="tx1"/>
                </a:solidFill>
              </a:rPr>
              <a:t>printf</a:t>
            </a:r>
            <a:r>
              <a:rPr lang="en-IN" sz="2400" dirty="0">
                <a:solidFill>
                  <a:schemeClr val="tx1"/>
                </a:solidFill>
              </a:rPr>
              <a:t>("Address of p variable is %u \</a:t>
            </a:r>
            <a:r>
              <a:rPr lang="en-IN" sz="2400" dirty="0" err="1">
                <a:solidFill>
                  <a:schemeClr val="tx1"/>
                </a:solidFill>
              </a:rPr>
              <a:t>n",p</a:t>
            </a:r>
            <a:r>
              <a:rPr lang="en-IN" sz="2400" dirty="0">
                <a:solidFill>
                  <a:schemeClr val="tx1"/>
                </a:solidFill>
              </a:rPr>
              <a:t>);      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p=p+1;        </a:t>
            </a:r>
          </a:p>
          <a:p>
            <a:pPr marL="0" indent="0">
              <a:buNone/>
            </a:pPr>
            <a:r>
              <a:rPr lang="en-IN" sz="2400" dirty="0" err="1">
                <a:solidFill>
                  <a:schemeClr val="tx1"/>
                </a:solidFill>
              </a:rPr>
              <a:t>printf</a:t>
            </a:r>
            <a:r>
              <a:rPr lang="en-IN" sz="2400" dirty="0">
                <a:solidFill>
                  <a:schemeClr val="tx1"/>
                </a:solidFill>
              </a:rPr>
              <a:t>("After increment: Address of p variable is %u \</a:t>
            </a:r>
            <a:r>
              <a:rPr lang="en-IN" sz="2400" dirty="0" err="1">
                <a:solidFill>
                  <a:schemeClr val="tx1"/>
                </a:solidFill>
              </a:rPr>
              <a:t>n",p</a:t>
            </a:r>
            <a:r>
              <a:rPr lang="en-IN" sz="2400" dirty="0">
                <a:solidFill>
                  <a:srgbClr val="0000CC"/>
                </a:solidFill>
              </a:rPr>
              <a:t>); // in our case, p will get incremented by 4 bytes.    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return 0;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}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915DC3-ECC6-49F1-996E-C999DB2D2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993" y="575187"/>
            <a:ext cx="4752975" cy="247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92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F16D8-557C-4891-B534-0A8ABE91D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Decrementing Pointer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630BE-36A6-4481-99DB-BDFF40CF7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865" y="864108"/>
            <a:ext cx="8667135" cy="512064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Like increment, we can decrement a pointer variable. If we decrement a pointer, it will start pointing to the previous location. </a:t>
            </a:r>
          </a:p>
          <a:p>
            <a:r>
              <a:rPr lang="en-IN" sz="2800" dirty="0">
                <a:solidFill>
                  <a:schemeClr val="tx1"/>
                </a:solidFill>
              </a:rPr>
              <a:t>Syntax: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    </a:t>
            </a:r>
            <a:r>
              <a:rPr lang="en-IN" sz="2800" dirty="0" err="1">
                <a:solidFill>
                  <a:srgbClr val="0000CC"/>
                </a:solidFill>
              </a:rPr>
              <a:t>new_address</a:t>
            </a:r>
            <a:r>
              <a:rPr lang="en-IN" sz="2800" dirty="0">
                <a:solidFill>
                  <a:srgbClr val="0000CC"/>
                </a:solidFill>
              </a:rPr>
              <a:t>= </a:t>
            </a:r>
            <a:r>
              <a:rPr lang="en-IN" sz="2800" dirty="0" err="1">
                <a:solidFill>
                  <a:srgbClr val="0000CC"/>
                </a:solidFill>
              </a:rPr>
              <a:t>current_address</a:t>
            </a:r>
            <a:r>
              <a:rPr lang="en-IN" sz="2800" dirty="0">
                <a:solidFill>
                  <a:srgbClr val="0000CC"/>
                </a:solidFill>
              </a:rPr>
              <a:t> - </a:t>
            </a:r>
            <a:r>
              <a:rPr lang="en-IN" sz="2800" dirty="0" err="1">
                <a:solidFill>
                  <a:srgbClr val="0000CC"/>
                </a:solidFill>
              </a:rPr>
              <a:t>i</a:t>
            </a:r>
            <a:r>
              <a:rPr lang="en-IN" sz="2800" dirty="0">
                <a:solidFill>
                  <a:srgbClr val="0000CC"/>
                </a:solidFill>
              </a:rPr>
              <a:t> * </a:t>
            </a:r>
            <a:r>
              <a:rPr lang="en-IN" sz="2800" dirty="0" err="1">
                <a:solidFill>
                  <a:srgbClr val="0000CC"/>
                </a:solidFill>
              </a:rPr>
              <a:t>size_of</a:t>
            </a:r>
            <a:r>
              <a:rPr lang="en-IN" sz="2800" dirty="0">
                <a:solidFill>
                  <a:srgbClr val="0000CC"/>
                </a:solidFill>
              </a:rPr>
              <a:t>(data type)  </a:t>
            </a:r>
          </a:p>
          <a:p>
            <a:pPr marL="0" indent="0">
              <a:buNone/>
            </a:pPr>
            <a:endParaRPr lang="en-I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328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1D1A6-A15E-424B-B0CC-A96BD326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47463-3FFE-4B9B-8857-5B297847D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#include &lt;</a:t>
            </a:r>
            <a:r>
              <a:rPr lang="en-IN" sz="2400" dirty="0" err="1">
                <a:solidFill>
                  <a:schemeClr val="tx1"/>
                </a:solidFill>
              </a:rPr>
              <a:t>stdio.h</a:t>
            </a:r>
            <a:r>
              <a:rPr lang="en-IN" sz="2400" dirty="0">
                <a:solidFill>
                  <a:schemeClr val="tx1"/>
                </a:solidFill>
              </a:rPr>
              <a:t>&gt;          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void main()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{          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int number=50;      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int *p;//pointer to int    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p=&amp;number;//stores the address of number variable        </a:t>
            </a:r>
          </a:p>
          <a:p>
            <a:pPr marL="0" indent="0">
              <a:buNone/>
            </a:pPr>
            <a:r>
              <a:rPr lang="en-IN" sz="2400" dirty="0" err="1">
                <a:solidFill>
                  <a:schemeClr val="tx1"/>
                </a:solidFill>
              </a:rPr>
              <a:t>printf</a:t>
            </a:r>
            <a:r>
              <a:rPr lang="en-IN" sz="2400" dirty="0">
                <a:solidFill>
                  <a:schemeClr val="tx1"/>
                </a:solidFill>
              </a:rPr>
              <a:t>("Address of p variable is %u \</a:t>
            </a:r>
            <a:r>
              <a:rPr lang="en-IN" sz="2400" dirty="0" err="1">
                <a:solidFill>
                  <a:schemeClr val="tx1"/>
                </a:solidFill>
              </a:rPr>
              <a:t>n",p</a:t>
            </a:r>
            <a:r>
              <a:rPr lang="en-IN" sz="2400" dirty="0">
                <a:solidFill>
                  <a:schemeClr val="tx1"/>
                </a:solidFill>
              </a:rPr>
              <a:t>);      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p=p-1;       </a:t>
            </a:r>
          </a:p>
          <a:p>
            <a:pPr marL="0" indent="0">
              <a:buNone/>
            </a:pPr>
            <a:r>
              <a:rPr lang="en-IN" sz="2400" dirty="0" err="1">
                <a:solidFill>
                  <a:schemeClr val="tx1"/>
                </a:solidFill>
              </a:rPr>
              <a:t>printf</a:t>
            </a:r>
            <a:r>
              <a:rPr lang="en-IN" sz="2400" dirty="0">
                <a:solidFill>
                  <a:schemeClr val="tx1"/>
                </a:solidFill>
              </a:rPr>
              <a:t>("After decrement: Address of p variable is %u \</a:t>
            </a:r>
            <a:r>
              <a:rPr lang="en-IN" sz="2400" dirty="0" err="1">
                <a:solidFill>
                  <a:schemeClr val="tx1"/>
                </a:solidFill>
              </a:rPr>
              <a:t>n",p</a:t>
            </a:r>
            <a:r>
              <a:rPr lang="en-IN" sz="2400" dirty="0">
                <a:solidFill>
                  <a:schemeClr val="tx1"/>
                </a:solidFill>
              </a:rPr>
              <a:t>); // P will now point to the </a:t>
            </a:r>
            <a:r>
              <a:rPr lang="en-IN" sz="2400" dirty="0" err="1">
                <a:solidFill>
                  <a:schemeClr val="tx1"/>
                </a:solidFill>
              </a:rPr>
              <a:t>immidiate</a:t>
            </a:r>
            <a:r>
              <a:rPr lang="en-IN" sz="2400" dirty="0">
                <a:solidFill>
                  <a:schemeClr val="tx1"/>
                </a:solidFill>
              </a:rPr>
              <a:t> previous location.        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}</a:t>
            </a: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84CFBA-7AC4-4705-ABEF-053E066087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86"/>
          <a:stretch/>
        </p:blipFill>
        <p:spPr>
          <a:xfrm>
            <a:off x="7406114" y="530942"/>
            <a:ext cx="4447221" cy="247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93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8837-9F86-4B90-B677-01E8786BF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Pointer Addition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219EB-D48C-49BD-9527-118787A8E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8069813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800" b="0" i="0" dirty="0">
                <a:solidFill>
                  <a:schemeClr val="tx1"/>
                </a:solidFill>
                <a:effectLst/>
              </a:rPr>
              <a:t>We can add a value to the pointer variable</a:t>
            </a:r>
          </a:p>
          <a:p>
            <a:pPr marL="0" indent="0">
              <a:buNone/>
            </a:pPr>
            <a:r>
              <a:rPr lang="en-IN" sz="2800" b="0" i="0" dirty="0">
                <a:solidFill>
                  <a:schemeClr val="tx1"/>
                </a:solidFill>
                <a:effectLst/>
              </a:rPr>
              <a:t>Syntax:</a:t>
            </a:r>
          </a:p>
          <a:p>
            <a:pPr marL="0" indent="0">
              <a:buNone/>
            </a:pPr>
            <a:r>
              <a:rPr lang="en-IN" sz="2800" b="0" i="0" dirty="0" err="1">
                <a:solidFill>
                  <a:srgbClr val="0000CC"/>
                </a:solidFill>
                <a:effectLst/>
              </a:rPr>
              <a:t>new_address</a:t>
            </a:r>
            <a:r>
              <a:rPr lang="en-IN" sz="2800" b="0" i="0" dirty="0">
                <a:solidFill>
                  <a:srgbClr val="0000CC"/>
                </a:solidFill>
                <a:effectLst/>
              </a:rPr>
              <a:t>= </a:t>
            </a:r>
            <a:r>
              <a:rPr lang="en-IN" sz="2800" b="0" i="0" dirty="0" err="1">
                <a:solidFill>
                  <a:srgbClr val="0000CC"/>
                </a:solidFill>
                <a:effectLst/>
              </a:rPr>
              <a:t>current_address</a:t>
            </a:r>
            <a:r>
              <a:rPr lang="en-IN" sz="2800" b="0" i="0" dirty="0">
                <a:solidFill>
                  <a:srgbClr val="0000CC"/>
                </a:solidFill>
                <a:effectLst/>
              </a:rPr>
              <a:t> + (number * </a:t>
            </a:r>
            <a:r>
              <a:rPr lang="en-IN" sz="2800" b="0" i="0" dirty="0" err="1">
                <a:solidFill>
                  <a:srgbClr val="0000CC"/>
                </a:solidFill>
                <a:effectLst/>
              </a:rPr>
              <a:t>size_of</a:t>
            </a:r>
            <a:r>
              <a:rPr lang="en-IN" sz="2800" b="0" i="0" dirty="0">
                <a:solidFill>
                  <a:srgbClr val="0000CC"/>
                </a:solidFill>
                <a:effectLst/>
              </a:rPr>
              <a:t>(data type))  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94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38679-8830-40D3-A5C9-F7CB123B7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Pointer Addition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68A26-D87D-405B-B3E3-DD5FB4220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575187"/>
            <a:ext cx="7752461" cy="582561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600" b="0" i="0" dirty="0">
                <a:solidFill>
                  <a:srgbClr val="0000FF"/>
                </a:solidFill>
                <a:effectLst/>
                <a:latin typeface="inter-regular"/>
              </a:rPr>
              <a:t>#include&lt;stdio.h&gt;</a:t>
            </a: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IN" sz="2600" b="1" i="0" dirty="0">
                <a:solidFill>
                  <a:srgbClr val="2E8B57"/>
                </a:solidFill>
                <a:effectLst/>
                <a:latin typeface="inter-regular"/>
              </a:rPr>
              <a:t>int</a:t>
            </a: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 main()</a:t>
            </a:r>
          </a:p>
          <a:p>
            <a:pPr marL="0" indent="0" algn="just">
              <a:buNone/>
            </a:pP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marL="0" indent="0" algn="just">
              <a:buNone/>
            </a:pPr>
            <a:r>
              <a:rPr lang="en-IN" sz="2600" b="1" i="0" dirty="0">
                <a:solidFill>
                  <a:srgbClr val="2E8B57"/>
                </a:solidFill>
                <a:effectLst/>
                <a:latin typeface="inter-regular"/>
              </a:rPr>
              <a:t>int</a:t>
            </a: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 number=50;        </a:t>
            </a:r>
          </a:p>
          <a:p>
            <a:pPr marL="0" indent="0" algn="just">
              <a:buNone/>
            </a:pPr>
            <a:r>
              <a:rPr lang="en-IN" sz="2600" b="1" i="0" dirty="0">
                <a:solidFill>
                  <a:srgbClr val="2E8B57"/>
                </a:solidFill>
                <a:effectLst/>
                <a:latin typeface="inter-regular"/>
              </a:rPr>
              <a:t>int</a:t>
            </a: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 *p;</a:t>
            </a:r>
            <a:r>
              <a:rPr lang="en-IN" sz="2600" b="0" i="0" dirty="0">
                <a:solidFill>
                  <a:srgbClr val="008200"/>
                </a:solidFill>
                <a:effectLst/>
                <a:latin typeface="inter-regular"/>
              </a:rPr>
              <a:t>//pointer to int    </a:t>
            </a: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p=&amp;number;</a:t>
            </a:r>
            <a:r>
              <a:rPr lang="en-IN" sz="2600" b="0" i="0" dirty="0">
                <a:solidFill>
                  <a:srgbClr val="008200"/>
                </a:solidFill>
                <a:effectLst/>
                <a:latin typeface="inter-regular"/>
              </a:rPr>
              <a:t>//stores the address of number variable      </a:t>
            </a: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IN" sz="2600" b="0" i="0" dirty="0" err="1">
                <a:solidFill>
                  <a:srgbClr val="000000"/>
                </a:solidFill>
                <a:effectLst/>
                <a:latin typeface="inter-regular"/>
              </a:rPr>
              <a:t>printf</a:t>
            </a: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2600" b="0" i="0" dirty="0">
                <a:solidFill>
                  <a:srgbClr val="0000FF"/>
                </a:solidFill>
                <a:effectLst/>
                <a:latin typeface="inter-regular"/>
              </a:rPr>
              <a:t>"Address of p variable is %u \</a:t>
            </a:r>
            <a:r>
              <a:rPr lang="en-IN" sz="2600" b="0" i="0" dirty="0" err="1">
                <a:solidFill>
                  <a:srgbClr val="0000FF"/>
                </a:solidFill>
                <a:effectLst/>
                <a:latin typeface="inter-regular"/>
              </a:rPr>
              <a:t>n"</a:t>
            </a:r>
            <a:r>
              <a:rPr lang="en-IN" sz="2600" b="0" i="0" dirty="0" err="1">
                <a:solidFill>
                  <a:srgbClr val="000000"/>
                </a:solidFill>
                <a:effectLst/>
                <a:latin typeface="inter-regular"/>
              </a:rPr>
              <a:t>,p</a:t>
            </a: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);        </a:t>
            </a:r>
          </a:p>
          <a:p>
            <a:pPr marL="0" indent="0" algn="just">
              <a:buNone/>
            </a:pP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p=p+3;   </a:t>
            </a:r>
            <a:r>
              <a:rPr lang="en-IN" sz="2600" b="0" i="0" dirty="0">
                <a:solidFill>
                  <a:srgbClr val="008200"/>
                </a:solidFill>
                <a:effectLst/>
                <a:latin typeface="inter-regular"/>
              </a:rPr>
              <a:t>//adding 3 to pointer variable  </a:t>
            </a: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IN" sz="2600" b="0" i="0" dirty="0" err="1">
                <a:solidFill>
                  <a:srgbClr val="000000"/>
                </a:solidFill>
                <a:effectLst/>
                <a:latin typeface="inter-regular"/>
              </a:rPr>
              <a:t>printf</a:t>
            </a: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2600" b="0" i="0" dirty="0">
                <a:solidFill>
                  <a:srgbClr val="0000FF"/>
                </a:solidFill>
                <a:effectLst/>
                <a:latin typeface="inter-regular"/>
              </a:rPr>
              <a:t>"After adding 3: Address of p variable is %u \</a:t>
            </a:r>
            <a:r>
              <a:rPr lang="en-IN" sz="2600" b="0" i="0" dirty="0" err="1">
                <a:solidFill>
                  <a:srgbClr val="0000FF"/>
                </a:solidFill>
                <a:effectLst/>
                <a:latin typeface="inter-regular"/>
              </a:rPr>
              <a:t>n"</a:t>
            </a:r>
            <a:r>
              <a:rPr lang="en-IN" sz="2600" b="0" i="0" dirty="0" err="1">
                <a:solidFill>
                  <a:srgbClr val="000000"/>
                </a:solidFill>
                <a:effectLst/>
                <a:latin typeface="inter-regular"/>
              </a:rPr>
              <a:t>,p</a:t>
            </a: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);       </a:t>
            </a:r>
          </a:p>
          <a:p>
            <a:pPr marL="0" indent="0" algn="just">
              <a:buNone/>
            </a:pPr>
            <a:r>
              <a:rPr lang="en-IN" sz="2600" b="1" i="0" dirty="0">
                <a:solidFill>
                  <a:srgbClr val="006699"/>
                </a:solidFill>
                <a:effectLst/>
                <a:latin typeface="inter-regular"/>
              </a:rPr>
              <a:t>return</a:t>
            </a: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 0;  </a:t>
            </a:r>
          </a:p>
          <a:p>
            <a:pPr marL="0" indent="0" algn="just">
              <a:buNone/>
            </a:pPr>
            <a:r>
              <a:rPr lang="en-IN" sz="2600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3F68F-FD31-4E4E-AD48-38A64198B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367" y="575187"/>
            <a:ext cx="4449097" cy="174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304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78B4-72B9-480C-A6DA-DC8EC16F8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 </a:t>
            </a:r>
            <a:r>
              <a:rPr lang="en-IN" b="1" dirty="0"/>
              <a:t>Pointer Subtraction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62FA8-BF89-42EA-9555-D406E1C94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Like pointer addition, we can subtract a value from the pointer variable. Subtracting any number from a pointer will give an address. The formula of subtracting value from the pointer variable is given below:</a:t>
            </a:r>
          </a:p>
          <a:p>
            <a:r>
              <a:rPr lang="en-IN" sz="2800" dirty="0">
                <a:solidFill>
                  <a:schemeClr val="tx1"/>
                </a:solidFill>
              </a:rPr>
              <a:t>Syntax:</a:t>
            </a:r>
          </a:p>
          <a:p>
            <a:pPr marL="0" indent="0" algn="ctr">
              <a:buNone/>
            </a:pPr>
            <a:r>
              <a:rPr lang="en-IN" sz="2800" dirty="0" err="1">
                <a:solidFill>
                  <a:srgbClr val="FF0000"/>
                </a:solidFill>
              </a:rPr>
              <a:t>new_address</a:t>
            </a:r>
            <a:r>
              <a:rPr lang="en-IN" sz="2800" dirty="0">
                <a:solidFill>
                  <a:srgbClr val="FF0000"/>
                </a:solidFill>
              </a:rPr>
              <a:t>= </a:t>
            </a:r>
            <a:r>
              <a:rPr lang="en-IN" sz="2800" dirty="0" err="1">
                <a:solidFill>
                  <a:srgbClr val="FF0000"/>
                </a:solidFill>
              </a:rPr>
              <a:t>current_address</a:t>
            </a:r>
            <a:r>
              <a:rPr lang="en-IN" sz="2800" dirty="0">
                <a:solidFill>
                  <a:srgbClr val="FF0000"/>
                </a:solidFill>
              </a:rPr>
              <a:t> - (number * </a:t>
            </a:r>
            <a:r>
              <a:rPr lang="en-IN" sz="2800" dirty="0" err="1">
                <a:solidFill>
                  <a:srgbClr val="FF0000"/>
                </a:solidFill>
              </a:rPr>
              <a:t>size_of</a:t>
            </a:r>
            <a:r>
              <a:rPr lang="en-IN" sz="2800" dirty="0">
                <a:solidFill>
                  <a:srgbClr val="FF0000"/>
                </a:solidFill>
              </a:rPr>
              <a:t>(data type)) </a:t>
            </a:r>
          </a:p>
        </p:txBody>
      </p:sp>
    </p:spTree>
    <p:extLst>
      <p:ext uri="{BB962C8B-B14F-4D97-AF65-F5344CB8AC3E}">
        <p14:creationId xmlns:p14="http://schemas.microsoft.com/office/powerpoint/2010/main" val="2760513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FD37B-1A63-4AB1-AA71-C751CAE8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Pointer Subtraction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E818F-865E-4375-92F9-FDE486E52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#include&lt;stdio.h&gt;  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int main(){  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int number=50;        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int *p;//pointer to int      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p=&amp;number;//stores the address of number variable        </a:t>
            </a:r>
          </a:p>
          <a:p>
            <a:pPr marL="0" indent="0">
              <a:buNone/>
            </a:pPr>
            <a:r>
              <a:rPr lang="en-IN" sz="2800" dirty="0" err="1">
                <a:solidFill>
                  <a:schemeClr val="tx1"/>
                </a:solidFill>
              </a:rPr>
              <a:t>printf</a:t>
            </a:r>
            <a:r>
              <a:rPr lang="en-IN" sz="2800" dirty="0">
                <a:solidFill>
                  <a:schemeClr val="tx1"/>
                </a:solidFill>
              </a:rPr>
              <a:t>("Address of p variable is %u \</a:t>
            </a:r>
            <a:r>
              <a:rPr lang="en-IN" sz="2800" dirty="0" err="1">
                <a:solidFill>
                  <a:schemeClr val="tx1"/>
                </a:solidFill>
              </a:rPr>
              <a:t>n",p</a:t>
            </a:r>
            <a:r>
              <a:rPr lang="en-IN" sz="2800" dirty="0">
                <a:solidFill>
                  <a:schemeClr val="tx1"/>
                </a:solidFill>
              </a:rPr>
              <a:t>);        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p=p-3; //subtracting 3 from pointer variable    </a:t>
            </a:r>
          </a:p>
          <a:p>
            <a:pPr marL="0" indent="0">
              <a:buNone/>
            </a:pPr>
            <a:r>
              <a:rPr lang="en-IN" sz="2800" dirty="0" err="1">
                <a:solidFill>
                  <a:schemeClr val="tx1"/>
                </a:solidFill>
              </a:rPr>
              <a:t>printf</a:t>
            </a:r>
            <a:r>
              <a:rPr lang="en-IN" sz="2800" dirty="0">
                <a:solidFill>
                  <a:schemeClr val="tx1"/>
                </a:solidFill>
              </a:rPr>
              <a:t>("After subtracting 3: Address of p variable is %u \</a:t>
            </a:r>
            <a:r>
              <a:rPr lang="en-IN" sz="2800" dirty="0" err="1">
                <a:solidFill>
                  <a:schemeClr val="tx1"/>
                </a:solidFill>
              </a:rPr>
              <a:t>n",p</a:t>
            </a:r>
            <a:r>
              <a:rPr lang="en-IN" sz="2800" dirty="0">
                <a:solidFill>
                  <a:schemeClr val="tx1"/>
                </a:solidFill>
              </a:rPr>
              <a:t>);        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return 0;  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}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175D23-A526-4767-BC2F-36393860E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75" y="856734"/>
            <a:ext cx="53054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12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6FCD-0E37-4533-AFC0-29C463165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Swapping using pointer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18050-3195-4377-998C-C01A8786F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2853" y="457201"/>
            <a:ext cx="7978876" cy="595834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3200" b="1" dirty="0">
                <a:solidFill>
                  <a:schemeClr val="tx1"/>
                </a:solidFill>
              </a:rPr>
              <a:t>Pointer Program to swap two numbers without using the 3rd variable.</a:t>
            </a:r>
            <a:br>
              <a:rPr lang="en-IN" sz="3200" b="1" dirty="0">
                <a:solidFill>
                  <a:schemeClr val="tx1"/>
                </a:solidFill>
              </a:rPr>
            </a:br>
            <a:endParaRPr lang="en-IN" sz="3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3100" dirty="0">
                <a:solidFill>
                  <a:schemeClr val="tx1"/>
                </a:solidFill>
              </a:rPr>
              <a:t>#include&lt;stdio.h&gt;  </a:t>
            </a:r>
          </a:p>
          <a:p>
            <a:pPr marL="0" indent="0">
              <a:buNone/>
            </a:pPr>
            <a:r>
              <a:rPr lang="en-IN" sz="3100" dirty="0">
                <a:solidFill>
                  <a:schemeClr val="tx1"/>
                </a:solidFill>
              </a:rPr>
              <a:t>int main()</a:t>
            </a:r>
          </a:p>
          <a:p>
            <a:pPr marL="0" indent="0">
              <a:buNone/>
            </a:pPr>
            <a:r>
              <a:rPr lang="en-IN" sz="3100" dirty="0">
                <a:solidFill>
                  <a:schemeClr val="tx1"/>
                </a:solidFill>
              </a:rPr>
              <a:t>{  </a:t>
            </a:r>
          </a:p>
          <a:p>
            <a:pPr marL="0" indent="0">
              <a:buNone/>
            </a:pPr>
            <a:r>
              <a:rPr lang="en-IN" sz="3100" dirty="0">
                <a:solidFill>
                  <a:schemeClr val="tx1"/>
                </a:solidFill>
              </a:rPr>
              <a:t>int a=10,b=20,*p1=&amp;a,*p2=&amp;b;  </a:t>
            </a:r>
          </a:p>
          <a:p>
            <a:pPr marL="0" indent="0">
              <a:buNone/>
            </a:pPr>
            <a:r>
              <a:rPr lang="en-IN" sz="3100" dirty="0" err="1">
                <a:solidFill>
                  <a:schemeClr val="tx1"/>
                </a:solidFill>
              </a:rPr>
              <a:t>printf</a:t>
            </a:r>
            <a:r>
              <a:rPr lang="en-IN" sz="3100" dirty="0">
                <a:solidFill>
                  <a:schemeClr val="tx1"/>
                </a:solidFill>
              </a:rPr>
              <a:t>("Before swap: *p1=%d *p2=%d",*p1,*p2);  </a:t>
            </a:r>
          </a:p>
          <a:p>
            <a:pPr marL="0" indent="0">
              <a:buNone/>
            </a:pPr>
            <a:r>
              <a:rPr lang="en-IN" sz="3100" dirty="0">
                <a:solidFill>
                  <a:schemeClr val="tx1"/>
                </a:solidFill>
              </a:rPr>
              <a:t>*p1=*p1+*p2;  </a:t>
            </a:r>
          </a:p>
          <a:p>
            <a:pPr marL="0" indent="0">
              <a:buNone/>
            </a:pPr>
            <a:r>
              <a:rPr lang="en-IN" sz="3100" dirty="0">
                <a:solidFill>
                  <a:schemeClr val="tx1"/>
                </a:solidFill>
              </a:rPr>
              <a:t>*p2=*p1-*p2;  </a:t>
            </a:r>
          </a:p>
          <a:p>
            <a:pPr marL="0" indent="0">
              <a:buNone/>
            </a:pPr>
            <a:r>
              <a:rPr lang="en-IN" sz="3100" dirty="0">
                <a:solidFill>
                  <a:schemeClr val="tx1"/>
                </a:solidFill>
              </a:rPr>
              <a:t>*p1=*p1-*p2;  </a:t>
            </a:r>
          </a:p>
          <a:p>
            <a:pPr marL="0" indent="0">
              <a:buNone/>
            </a:pPr>
            <a:r>
              <a:rPr lang="en-IN" sz="3100" dirty="0" err="1">
                <a:solidFill>
                  <a:schemeClr val="tx1"/>
                </a:solidFill>
              </a:rPr>
              <a:t>printf</a:t>
            </a:r>
            <a:r>
              <a:rPr lang="en-IN" sz="3100" dirty="0">
                <a:solidFill>
                  <a:schemeClr val="tx1"/>
                </a:solidFill>
              </a:rPr>
              <a:t>("\</a:t>
            </a:r>
            <a:r>
              <a:rPr lang="en-IN" sz="3100" dirty="0" err="1">
                <a:solidFill>
                  <a:schemeClr val="tx1"/>
                </a:solidFill>
              </a:rPr>
              <a:t>nAfter</a:t>
            </a:r>
            <a:r>
              <a:rPr lang="en-IN" sz="3100" dirty="0">
                <a:solidFill>
                  <a:schemeClr val="tx1"/>
                </a:solidFill>
              </a:rPr>
              <a:t> swap: *p1=%d *p2=%d",*p1,*p2);  </a:t>
            </a:r>
          </a:p>
          <a:p>
            <a:pPr marL="0" indent="0">
              <a:buNone/>
            </a:pPr>
            <a:r>
              <a:rPr lang="en-IN" sz="3100" dirty="0">
                <a:solidFill>
                  <a:schemeClr val="tx1"/>
                </a:solidFill>
              </a:rPr>
              <a:t>return 0;  </a:t>
            </a:r>
          </a:p>
          <a:p>
            <a:pPr marL="0" indent="0">
              <a:buNone/>
            </a:pPr>
            <a:r>
              <a:rPr lang="en-IN" sz="3100" dirty="0">
                <a:solidFill>
                  <a:schemeClr val="tx1"/>
                </a:solidFill>
              </a:rPr>
              <a:t>} 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FE973-5364-4F49-B391-ED3F1542CF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38"/>
          <a:stretch/>
        </p:blipFill>
        <p:spPr>
          <a:xfrm>
            <a:off x="7632291" y="1123837"/>
            <a:ext cx="3825022" cy="160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744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1069848" y="850505"/>
            <a:ext cx="7315200" cy="4479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2620370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Allocation 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812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A9217-4588-4A2A-A4C7-ACB8BB5A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NULL Pointer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8B234-CE8C-4E01-909B-3BAE5AEA1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590229" cy="512064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A pointer that is not assigned any value but NULL is known as the NULL pointer.</a:t>
            </a:r>
          </a:p>
          <a:p>
            <a:r>
              <a:rPr lang="en-IN" sz="2800" dirty="0">
                <a:solidFill>
                  <a:schemeClr val="tx1"/>
                </a:solidFill>
              </a:rPr>
              <a:t> If you don't have any address to be specified in the pointer at the time of declaration, you can assign NULL value. </a:t>
            </a:r>
          </a:p>
          <a:p>
            <a:r>
              <a:rPr lang="en-IN" sz="2800" dirty="0">
                <a:solidFill>
                  <a:schemeClr val="tx1"/>
                </a:solidFill>
              </a:rPr>
              <a:t>It will provide a better approach.</a:t>
            </a:r>
          </a:p>
          <a:p>
            <a:r>
              <a:rPr lang="en-IN" sz="2800" b="1" dirty="0">
                <a:solidFill>
                  <a:schemeClr val="tx1"/>
                </a:solidFill>
              </a:rPr>
              <a:t>Example </a:t>
            </a:r>
          </a:p>
          <a:p>
            <a:pPr marL="502920" lvl="1" indent="0">
              <a:buNone/>
            </a:pPr>
            <a:r>
              <a:rPr lang="en-IN" sz="2800" dirty="0">
                <a:solidFill>
                  <a:srgbClr val="0000CC"/>
                </a:solidFill>
              </a:rPr>
              <a:t>int *p=NULL;</a:t>
            </a:r>
          </a:p>
          <a:p>
            <a:pPr marL="502920" lvl="1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In the most libraries, the value of the pointer is 0 (zero).</a:t>
            </a:r>
          </a:p>
        </p:txBody>
      </p:sp>
    </p:spTree>
    <p:extLst>
      <p:ext uri="{BB962C8B-B14F-4D97-AF65-F5344CB8AC3E}">
        <p14:creationId xmlns:p14="http://schemas.microsoft.com/office/powerpoint/2010/main" val="1692169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A9217-4588-4A2A-A4C7-ACB8BB5A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NULL Pointer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8B234-CE8C-4E01-909B-3BAE5AEA1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590229" cy="512064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#include &lt;</a:t>
            </a:r>
            <a:r>
              <a:rPr lang="en-US" sz="2800" dirty="0" err="1">
                <a:solidFill>
                  <a:schemeClr val="tx1"/>
                </a:solidFill>
              </a:rPr>
              <a:t>stdio.h</a:t>
            </a:r>
            <a:r>
              <a:rPr lang="en-US" sz="2800" dirty="0">
                <a:solidFill>
                  <a:schemeClr val="tx1"/>
                </a:solidFill>
              </a:rPr>
              <a:t>&gt;</a:t>
            </a:r>
          </a:p>
          <a:p>
            <a:r>
              <a:rPr lang="en-US" sz="2800" dirty="0">
                <a:solidFill>
                  <a:schemeClr val="tx1"/>
                </a:solidFill>
              </a:rPr>
              <a:t>int main()</a:t>
            </a:r>
          </a:p>
          <a:p>
            <a:r>
              <a:rPr lang="en-US" sz="2800" dirty="0">
                <a:solidFill>
                  <a:schemeClr val="tx1"/>
                </a:solidFill>
              </a:rPr>
              <a:t>{</a:t>
            </a:r>
          </a:p>
          <a:p>
            <a:r>
              <a:rPr lang="en-US" sz="2800" dirty="0">
                <a:solidFill>
                  <a:schemeClr val="tx1"/>
                </a:solidFill>
              </a:rPr>
              <a:t>	// Null Pointer</a:t>
            </a:r>
          </a:p>
          <a:p>
            <a:r>
              <a:rPr lang="en-US" sz="2800" dirty="0">
                <a:solidFill>
                  <a:schemeClr val="tx1"/>
                </a:solidFill>
              </a:rPr>
              <a:t>	int *</a:t>
            </a:r>
            <a:r>
              <a:rPr lang="en-US" sz="2800" dirty="0" err="1">
                <a:solidFill>
                  <a:schemeClr val="tx1"/>
                </a:solidFill>
              </a:rPr>
              <a:t>ptr</a:t>
            </a:r>
            <a:r>
              <a:rPr lang="en-US" sz="2800" dirty="0">
                <a:solidFill>
                  <a:schemeClr val="tx1"/>
                </a:solidFill>
              </a:rPr>
              <a:t> = NULL;</a:t>
            </a:r>
          </a:p>
          <a:p>
            <a:r>
              <a:rPr lang="en-US" sz="2800" dirty="0">
                <a:solidFill>
                  <a:schemeClr val="tx1"/>
                </a:solidFill>
              </a:rPr>
              <a:t>	</a:t>
            </a:r>
          </a:p>
          <a:p>
            <a:r>
              <a:rPr lang="en-US" sz="2800" dirty="0">
                <a:solidFill>
                  <a:schemeClr val="tx1"/>
                </a:solidFill>
              </a:rPr>
              <a:t>	</a:t>
            </a:r>
            <a:r>
              <a:rPr lang="en-US" sz="2800" dirty="0" err="1">
                <a:solidFill>
                  <a:schemeClr val="tx1"/>
                </a:solidFill>
              </a:rPr>
              <a:t>printf</a:t>
            </a:r>
            <a:r>
              <a:rPr lang="en-US" sz="2800" dirty="0">
                <a:solidFill>
                  <a:schemeClr val="tx1"/>
                </a:solidFill>
              </a:rPr>
              <a:t>("The value of </a:t>
            </a:r>
            <a:r>
              <a:rPr lang="en-US" sz="2800" dirty="0" err="1">
                <a:solidFill>
                  <a:schemeClr val="tx1"/>
                </a:solidFill>
              </a:rPr>
              <a:t>ptr</a:t>
            </a:r>
            <a:r>
              <a:rPr lang="en-US" sz="2800" dirty="0">
                <a:solidFill>
                  <a:schemeClr val="tx1"/>
                </a:solidFill>
              </a:rPr>
              <a:t> is %p", </a:t>
            </a:r>
            <a:r>
              <a:rPr lang="en-US" sz="2800" dirty="0" err="1">
                <a:solidFill>
                  <a:schemeClr val="tx1"/>
                </a:solidFill>
              </a:rPr>
              <a:t>ptr</a:t>
            </a:r>
            <a:r>
              <a:rPr lang="en-US" sz="2800" dirty="0">
                <a:solidFill>
                  <a:schemeClr val="tx1"/>
                </a:solidFill>
              </a:rPr>
              <a:t>);</a:t>
            </a:r>
          </a:p>
          <a:p>
            <a:r>
              <a:rPr lang="en-US" sz="2800" dirty="0">
                <a:solidFill>
                  <a:schemeClr val="tx1"/>
                </a:solidFill>
              </a:rPr>
              <a:t>	return 0;</a:t>
            </a:r>
          </a:p>
          <a:p>
            <a:r>
              <a:rPr lang="en-US" sz="28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2732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A9217-4588-4A2A-A4C7-ACB8BB5A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Void Pointer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8B234-CE8C-4E01-909B-3BAE5AEA1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590229" cy="512064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Void pointer is a specific pointer type – void * – a pointer that points to some data location in storage, which doesn’t have any specific type.</a:t>
            </a:r>
          </a:p>
          <a:p>
            <a:r>
              <a:rPr lang="en-US" sz="2800" dirty="0">
                <a:solidFill>
                  <a:schemeClr val="tx1"/>
                </a:solidFill>
              </a:rPr>
              <a:t>Void refers to the type.</a:t>
            </a:r>
          </a:p>
          <a:p>
            <a:r>
              <a:rPr lang="en-US" sz="2800" dirty="0">
                <a:solidFill>
                  <a:schemeClr val="tx1"/>
                </a:solidFill>
              </a:rPr>
              <a:t>void pointers cannot be dereferenced. It can however be done using typecasting the void pointer</a:t>
            </a:r>
          </a:p>
          <a:p>
            <a:r>
              <a:rPr lang="en-US" sz="2800" dirty="0">
                <a:solidFill>
                  <a:schemeClr val="tx1"/>
                </a:solidFill>
              </a:rPr>
              <a:t>Pointer arithmetic is not possible on pointers of void due to lack of concrete value and thus size.</a:t>
            </a:r>
            <a:endParaRPr lang="en-I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8224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A9217-4588-4A2A-A4C7-ACB8BB5A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Void Pointer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8B234-CE8C-4E01-909B-3BAE5AEA1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7"/>
            <a:ext cx="7590229" cy="5806515"/>
          </a:xfrm>
        </p:spPr>
        <p:txBody>
          <a:bodyPr>
            <a:normAutofit fontScale="70000" lnSpcReduction="20000"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#include &lt;</a:t>
            </a:r>
            <a:r>
              <a:rPr lang="en-IN" sz="2800" dirty="0" err="1">
                <a:solidFill>
                  <a:schemeClr val="tx1"/>
                </a:solidFill>
              </a:rPr>
              <a:t>stdlib.h</a:t>
            </a:r>
            <a:r>
              <a:rPr lang="en-IN" sz="2800" dirty="0">
                <a:solidFill>
                  <a:schemeClr val="tx1"/>
                </a:solidFill>
              </a:rPr>
              <a:t>&gt;</a:t>
            </a:r>
          </a:p>
          <a:p>
            <a:r>
              <a:rPr lang="en-IN" sz="2800" dirty="0">
                <a:solidFill>
                  <a:schemeClr val="tx1"/>
                </a:solidFill>
              </a:rPr>
              <a:t>int main()</a:t>
            </a:r>
          </a:p>
          <a:p>
            <a:r>
              <a:rPr lang="en-IN" sz="2800" dirty="0">
                <a:solidFill>
                  <a:schemeClr val="tx1"/>
                </a:solidFill>
              </a:rPr>
              <a:t>{</a:t>
            </a:r>
          </a:p>
          <a:p>
            <a:r>
              <a:rPr lang="en-IN" sz="2800" dirty="0">
                <a:solidFill>
                  <a:schemeClr val="tx1"/>
                </a:solidFill>
              </a:rPr>
              <a:t>	int x = 4;			o/p: Integer variable is = 4</a:t>
            </a:r>
            <a:endParaRPr lang="en-IN" sz="2200" dirty="0">
              <a:solidFill>
                <a:schemeClr val="tx1"/>
              </a:solidFill>
            </a:endParaRPr>
          </a:p>
          <a:p>
            <a:r>
              <a:rPr lang="en-IN" sz="2800" dirty="0">
                <a:solidFill>
                  <a:schemeClr val="tx1"/>
                </a:solidFill>
              </a:rPr>
              <a:t>	float y = 5.5;		         Float variable is = 5.50000</a:t>
            </a:r>
          </a:p>
          <a:p>
            <a:r>
              <a:rPr lang="en-IN" sz="2800" dirty="0">
                <a:solidFill>
                  <a:schemeClr val="tx1"/>
                </a:solidFill>
              </a:rPr>
              <a:t>	// A void pointer</a:t>
            </a:r>
          </a:p>
          <a:p>
            <a:r>
              <a:rPr lang="en-IN" sz="2800" dirty="0">
                <a:solidFill>
                  <a:schemeClr val="tx1"/>
                </a:solidFill>
              </a:rPr>
              <a:t>	void* </a:t>
            </a:r>
            <a:r>
              <a:rPr lang="en-IN" sz="2800" dirty="0" err="1">
                <a:solidFill>
                  <a:schemeClr val="tx1"/>
                </a:solidFill>
              </a:rPr>
              <a:t>ptr</a:t>
            </a:r>
            <a:r>
              <a:rPr lang="en-IN" sz="2800" dirty="0">
                <a:solidFill>
                  <a:schemeClr val="tx1"/>
                </a:solidFill>
              </a:rPr>
              <a:t>;</a:t>
            </a:r>
          </a:p>
          <a:p>
            <a:r>
              <a:rPr lang="en-IN" sz="2800" dirty="0">
                <a:solidFill>
                  <a:schemeClr val="tx1"/>
                </a:solidFill>
              </a:rPr>
              <a:t>	</a:t>
            </a:r>
            <a:r>
              <a:rPr lang="en-IN" sz="2800" dirty="0" err="1">
                <a:solidFill>
                  <a:schemeClr val="tx1"/>
                </a:solidFill>
              </a:rPr>
              <a:t>ptr</a:t>
            </a:r>
            <a:r>
              <a:rPr lang="en-IN" sz="2800" dirty="0">
                <a:solidFill>
                  <a:schemeClr val="tx1"/>
                </a:solidFill>
              </a:rPr>
              <a:t> = &amp;x;</a:t>
            </a:r>
          </a:p>
          <a:p>
            <a:r>
              <a:rPr lang="en-IN" sz="2800" dirty="0">
                <a:solidFill>
                  <a:schemeClr val="tx1"/>
                </a:solidFill>
              </a:rPr>
              <a:t>	// void pointer variable.</a:t>
            </a:r>
          </a:p>
          <a:p>
            <a:r>
              <a:rPr lang="en-IN" sz="2800" dirty="0">
                <a:solidFill>
                  <a:schemeClr val="tx1"/>
                </a:solidFill>
              </a:rPr>
              <a:t>	</a:t>
            </a:r>
            <a:r>
              <a:rPr lang="en-IN" sz="2800" dirty="0" err="1">
                <a:solidFill>
                  <a:schemeClr val="tx1"/>
                </a:solidFill>
              </a:rPr>
              <a:t>printf</a:t>
            </a:r>
            <a:r>
              <a:rPr lang="en-IN" sz="2800" dirty="0">
                <a:solidFill>
                  <a:schemeClr val="tx1"/>
                </a:solidFill>
              </a:rPr>
              <a:t>("Integer variable is = %d", *((int*)</a:t>
            </a:r>
            <a:r>
              <a:rPr lang="en-IN" sz="2800" dirty="0" err="1">
                <a:solidFill>
                  <a:schemeClr val="tx1"/>
                </a:solidFill>
              </a:rPr>
              <a:t>ptr</a:t>
            </a:r>
            <a:r>
              <a:rPr lang="en-IN" sz="2800" dirty="0">
                <a:solidFill>
                  <a:schemeClr val="tx1"/>
                </a:solidFill>
              </a:rPr>
              <a:t>));</a:t>
            </a:r>
          </a:p>
          <a:p>
            <a:r>
              <a:rPr lang="en-IN" sz="2800" dirty="0">
                <a:solidFill>
                  <a:schemeClr val="tx1"/>
                </a:solidFill>
              </a:rPr>
              <a:t>	// void pointer is now float</a:t>
            </a:r>
          </a:p>
          <a:p>
            <a:r>
              <a:rPr lang="en-IN" sz="2800" dirty="0">
                <a:solidFill>
                  <a:schemeClr val="tx1"/>
                </a:solidFill>
              </a:rPr>
              <a:t>	</a:t>
            </a:r>
            <a:r>
              <a:rPr lang="en-IN" sz="2800" dirty="0" err="1">
                <a:solidFill>
                  <a:schemeClr val="tx1"/>
                </a:solidFill>
              </a:rPr>
              <a:t>ptr</a:t>
            </a:r>
            <a:r>
              <a:rPr lang="en-IN" sz="2800" dirty="0">
                <a:solidFill>
                  <a:schemeClr val="tx1"/>
                </a:solidFill>
              </a:rPr>
              <a:t> = &amp;y;</a:t>
            </a:r>
          </a:p>
          <a:p>
            <a:r>
              <a:rPr lang="en-IN" sz="2800" dirty="0">
                <a:solidFill>
                  <a:schemeClr val="tx1"/>
                </a:solidFill>
              </a:rPr>
              <a:t>	</a:t>
            </a:r>
            <a:r>
              <a:rPr lang="en-IN" sz="2800" dirty="0" err="1">
                <a:solidFill>
                  <a:schemeClr val="tx1"/>
                </a:solidFill>
              </a:rPr>
              <a:t>printf</a:t>
            </a:r>
            <a:r>
              <a:rPr lang="en-IN" sz="2800" dirty="0">
                <a:solidFill>
                  <a:schemeClr val="tx1"/>
                </a:solidFill>
              </a:rPr>
              <a:t>("\</a:t>
            </a:r>
            <a:r>
              <a:rPr lang="en-IN" sz="2800" dirty="0" err="1">
                <a:solidFill>
                  <a:schemeClr val="tx1"/>
                </a:solidFill>
              </a:rPr>
              <a:t>nFloat</a:t>
            </a:r>
            <a:r>
              <a:rPr lang="en-IN" sz="2800" dirty="0">
                <a:solidFill>
                  <a:schemeClr val="tx1"/>
                </a:solidFill>
              </a:rPr>
              <a:t> variable is = %f", *((float*)</a:t>
            </a:r>
            <a:r>
              <a:rPr lang="en-IN" sz="2800" dirty="0" err="1">
                <a:solidFill>
                  <a:schemeClr val="tx1"/>
                </a:solidFill>
              </a:rPr>
              <a:t>ptr</a:t>
            </a:r>
            <a:r>
              <a:rPr lang="en-IN" sz="2800" dirty="0">
                <a:solidFill>
                  <a:schemeClr val="tx1"/>
                </a:solidFill>
              </a:rPr>
              <a:t>));</a:t>
            </a:r>
          </a:p>
          <a:p>
            <a:r>
              <a:rPr lang="en-IN" sz="2800" dirty="0">
                <a:solidFill>
                  <a:schemeClr val="tx1"/>
                </a:solidFill>
              </a:rPr>
              <a:t>	return 0;</a:t>
            </a:r>
          </a:p>
          <a:p>
            <a:r>
              <a:rPr lang="en-IN" sz="2800" dirty="0">
                <a:solidFill>
                  <a:schemeClr val="tx1"/>
                </a:solidFill>
              </a:rPr>
              <a:t>}</a:t>
            </a:r>
          </a:p>
          <a:p>
            <a:endParaRPr lang="en-I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8775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603CB-B449-4122-B812-E5245AAC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/>
              <a:t>Dynamic 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F9C94-53E4-4B4F-BE41-DC04E1F94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059" y="478302"/>
            <a:ext cx="8201464" cy="57255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600" dirty="0">
                <a:solidFill>
                  <a:schemeClr val="tx1"/>
                </a:solidFill>
              </a:rPr>
              <a:t>The Dynamic memory allocation enables the C programmers to </a:t>
            </a:r>
            <a:r>
              <a:rPr lang="en-IN" sz="3600" b="1" dirty="0">
                <a:solidFill>
                  <a:srgbClr val="FF0000"/>
                </a:solidFill>
              </a:rPr>
              <a:t>allocate memory at runtime.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600" dirty="0">
                <a:solidFill>
                  <a:schemeClr val="tx1"/>
                </a:solidFill>
              </a:rPr>
              <a:t>DMA</a:t>
            </a:r>
            <a:r>
              <a:rPr lang="en-IN" sz="3600" b="1" dirty="0">
                <a:solidFill>
                  <a:srgbClr val="FF0000"/>
                </a:solidFill>
              </a:rPr>
              <a:t> </a:t>
            </a:r>
            <a:r>
              <a:rPr lang="en-IN" sz="3600" dirty="0">
                <a:solidFill>
                  <a:schemeClr val="tx1"/>
                </a:solidFill>
              </a:rPr>
              <a:t>can be defined as a procedure in which the size of a data structure is changed during the runtime.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600" dirty="0">
                <a:solidFill>
                  <a:schemeClr val="tx1"/>
                </a:solidFill>
              </a:rPr>
              <a:t>There are </a:t>
            </a:r>
            <a:r>
              <a:rPr lang="en-IN" sz="3600" b="1" dirty="0">
                <a:solidFill>
                  <a:srgbClr val="FF0000"/>
                </a:solidFill>
              </a:rPr>
              <a:t>4 library functions </a:t>
            </a:r>
            <a:r>
              <a:rPr lang="en-IN" sz="3600" dirty="0">
                <a:solidFill>
                  <a:schemeClr val="tx1"/>
                </a:solidFill>
              </a:rPr>
              <a:t>provided by C defined under </a:t>
            </a:r>
            <a:r>
              <a:rPr lang="en-IN" sz="3600" b="1" dirty="0">
                <a:solidFill>
                  <a:srgbClr val="FF0000"/>
                </a:solidFill>
              </a:rPr>
              <a:t>&lt;</a:t>
            </a:r>
            <a:r>
              <a:rPr lang="en-IN" sz="3600" b="1" dirty="0" err="1">
                <a:solidFill>
                  <a:srgbClr val="FF0000"/>
                </a:solidFill>
              </a:rPr>
              <a:t>stdlib.h</a:t>
            </a:r>
            <a:r>
              <a:rPr lang="en-IN" sz="3600" b="1" dirty="0">
                <a:solidFill>
                  <a:srgbClr val="FF0000"/>
                </a:solidFill>
              </a:rPr>
              <a:t>&gt; </a:t>
            </a:r>
            <a:r>
              <a:rPr lang="en-IN" sz="3600" dirty="0">
                <a:solidFill>
                  <a:schemeClr val="tx1"/>
                </a:solidFill>
              </a:rPr>
              <a:t>header file to facilitate dynamic memory allocation in C programming.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600" dirty="0">
                <a:solidFill>
                  <a:schemeClr val="tx1"/>
                </a:solidFill>
              </a:rPr>
              <a:t>They are: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IN" sz="2600" b="1" dirty="0">
                <a:solidFill>
                  <a:schemeClr val="tx1"/>
                </a:solidFill>
              </a:rPr>
              <a:t>  </a:t>
            </a:r>
            <a:r>
              <a:rPr lang="en-IN" sz="3100" b="1" dirty="0">
                <a:solidFill>
                  <a:schemeClr val="tx1"/>
                </a:solidFill>
              </a:rPr>
              <a:t>malloc()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IN" sz="3100" b="1" dirty="0">
                <a:solidFill>
                  <a:schemeClr val="tx1"/>
                </a:solidFill>
              </a:rPr>
              <a:t> </a:t>
            </a:r>
            <a:r>
              <a:rPr lang="en-IN" sz="3100" b="1" dirty="0" err="1">
                <a:solidFill>
                  <a:schemeClr val="tx1"/>
                </a:solidFill>
              </a:rPr>
              <a:t>calloc</a:t>
            </a:r>
            <a:r>
              <a:rPr lang="en-IN" sz="3100" b="1" dirty="0">
                <a:solidFill>
                  <a:schemeClr val="tx1"/>
                </a:solidFill>
              </a:rPr>
              <a:t>()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IN" sz="3100" b="1" dirty="0">
                <a:solidFill>
                  <a:schemeClr val="tx1"/>
                </a:solidFill>
              </a:rPr>
              <a:t>  free()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IN" sz="3100" b="1" dirty="0">
                <a:solidFill>
                  <a:schemeClr val="tx1"/>
                </a:solidFill>
              </a:rPr>
              <a:t>  </a:t>
            </a:r>
            <a:r>
              <a:rPr lang="en-IN" sz="3100" b="1" dirty="0" err="1">
                <a:solidFill>
                  <a:schemeClr val="tx1"/>
                </a:solidFill>
              </a:rPr>
              <a:t>realloc</a:t>
            </a:r>
            <a:r>
              <a:rPr lang="en-IN" sz="3100" b="1" dirty="0">
                <a:solidFill>
                  <a:schemeClr val="tx1"/>
                </a:solidFill>
              </a:rPr>
              <a:t>()</a:t>
            </a:r>
            <a:endParaRPr lang="en-IN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495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1AA2-2A9D-425F-8C29-310144C0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b="1" dirty="0"/>
              <a:t>malloc() method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72F34-90AF-427E-A3AE-12FA961BD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7"/>
            <a:ext cx="7722510" cy="5297541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“malloc” or “memory allocation” </a:t>
            </a:r>
            <a:r>
              <a:rPr lang="en-IN" sz="3200" dirty="0">
                <a:solidFill>
                  <a:schemeClr val="tx1"/>
                </a:solidFill>
              </a:rPr>
              <a:t>method in C is used to dynamically allocate a single large block of memory with the specified size.</a:t>
            </a:r>
          </a:p>
          <a:p>
            <a:r>
              <a:rPr lang="en-IN" sz="3200" dirty="0">
                <a:solidFill>
                  <a:schemeClr val="tx1"/>
                </a:solidFill>
              </a:rPr>
              <a:t> It </a:t>
            </a:r>
            <a:r>
              <a:rPr lang="en-IN" sz="3200" dirty="0">
                <a:solidFill>
                  <a:srgbClr val="FF0000"/>
                </a:solidFill>
              </a:rPr>
              <a:t>returns a pointer of type void </a:t>
            </a:r>
            <a:r>
              <a:rPr lang="en-IN" sz="3200" dirty="0">
                <a:solidFill>
                  <a:schemeClr val="tx1"/>
                </a:solidFill>
              </a:rPr>
              <a:t>which can be cast into a pointer of any form. </a:t>
            </a:r>
          </a:p>
          <a:p>
            <a:r>
              <a:rPr lang="en-IN" sz="3200" dirty="0">
                <a:solidFill>
                  <a:schemeClr val="tx1"/>
                </a:solidFill>
              </a:rPr>
              <a:t>It initializes </a:t>
            </a:r>
            <a:r>
              <a:rPr lang="en-IN" sz="3200" dirty="0">
                <a:solidFill>
                  <a:srgbClr val="FF0000"/>
                </a:solidFill>
              </a:rPr>
              <a:t>each block with default garbage </a:t>
            </a:r>
            <a:r>
              <a:rPr lang="en-IN" sz="3200" dirty="0">
                <a:solidFill>
                  <a:schemeClr val="tx1"/>
                </a:solidFill>
              </a:rPr>
              <a:t>value.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tx1"/>
                </a:solidFill>
              </a:rPr>
              <a:t>  </a:t>
            </a:r>
            <a:r>
              <a:rPr lang="en-IN" sz="3200" b="1" dirty="0">
                <a:solidFill>
                  <a:schemeClr val="tx1"/>
                </a:solidFill>
              </a:rPr>
              <a:t>Syntax: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tx1"/>
                </a:solidFill>
              </a:rPr>
              <a:t>         </a:t>
            </a:r>
            <a:r>
              <a:rPr lang="en-IN" sz="3200" dirty="0" err="1">
                <a:solidFill>
                  <a:schemeClr val="tx1"/>
                </a:solidFill>
              </a:rPr>
              <a:t>ptr</a:t>
            </a:r>
            <a:r>
              <a:rPr lang="en-IN" sz="3200" dirty="0">
                <a:solidFill>
                  <a:schemeClr val="tx1"/>
                </a:solidFill>
              </a:rPr>
              <a:t> = (cast-type*) malloc(byte-size)</a:t>
            </a:r>
          </a:p>
        </p:txBody>
      </p:sp>
    </p:spTree>
    <p:extLst>
      <p:ext uri="{BB962C8B-B14F-4D97-AF65-F5344CB8AC3E}">
        <p14:creationId xmlns:p14="http://schemas.microsoft.com/office/powerpoint/2010/main" val="41908765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9391F-688D-4B53-BE09-01B1EE30C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Example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8C41DD4-E4CC-470E-A10C-73DEA3333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871" y="864108"/>
            <a:ext cx="7737883" cy="5120640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For Example:</a:t>
            </a:r>
          </a:p>
          <a:p>
            <a:pPr marL="0" indent="0">
              <a:buNone/>
            </a:pPr>
            <a:r>
              <a:rPr lang="en-IN" sz="2400" dirty="0" err="1"/>
              <a:t>ptr</a:t>
            </a:r>
            <a:r>
              <a:rPr lang="en-IN" sz="2400" dirty="0"/>
              <a:t> = (int*) malloc(100 * </a:t>
            </a:r>
            <a:r>
              <a:rPr lang="en-IN" sz="2400" dirty="0" err="1"/>
              <a:t>sizeof</a:t>
            </a:r>
            <a:r>
              <a:rPr lang="en-IN" sz="2400" dirty="0"/>
              <a:t>(int));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Since the size of int is 4 bytes, this statement will allocate 400 bytes of memory. And, the pointer </a:t>
            </a:r>
            <a:r>
              <a:rPr lang="en-IN" sz="2400" dirty="0" err="1"/>
              <a:t>ptr</a:t>
            </a:r>
            <a:r>
              <a:rPr lang="en-IN" sz="2400" dirty="0"/>
              <a:t> holds the address of the first byte in the allocated memory.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3C89FF-79C0-457C-8CED-3B782D9FE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287" y="2305240"/>
            <a:ext cx="641985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2233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FAB3-0B26-4F50-AAE5-25327AF98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0" dirty="0" err="1">
                <a:solidFill>
                  <a:schemeClr val="bg1"/>
                </a:solidFill>
                <a:effectLst/>
                <a:latin typeface="urw-din"/>
              </a:rPr>
              <a:t>calloc</a:t>
            </a:r>
            <a:r>
              <a:rPr lang="en-IN" b="1" i="0" dirty="0">
                <a:solidFill>
                  <a:schemeClr val="bg1"/>
                </a:solidFill>
                <a:effectLst/>
                <a:latin typeface="urw-din"/>
              </a:rPr>
              <a:t>() method</a:t>
            </a:r>
            <a:br>
              <a:rPr lang="en-IN" b="1" i="0" dirty="0">
                <a:solidFill>
                  <a:schemeClr val="bg1"/>
                </a:solidFill>
                <a:effectLst/>
                <a:latin typeface="urw-din"/>
              </a:rPr>
            </a:b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483A2-0533-4F6D-84F1-E05C28189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2855" y="450166"/>
            <a:ext cx="8436226" cy="6147582"/>
          </a:xfrm>
        </p:spPr>
        <p:txBody>
          <a:bodyPr>
            <a:normAutofit/>
          </a:bodyPr>
          <a:lstStyle/>
          <a:p>
            <a:pPr fontAlgn="base"/>
            <a:r>
              <a:rPr lang="en-IN" sz="2800" b="1" i="0" dirty="0">
                <a:solidFill>
                  <a:srgbClr val="273239"/>
                </a:solidFill>
                <a:effectLst/>
              </a:rPr>
              <a:t>“</a:t>
            </a:r>
            <a:r>
              <a:rPr lang="en-IN" sz="2800" b="1" i="0" dirty="0" err="1">
                <a:solidFill>
                  <a:srgbClr val="273239"/>
                </a:solidFill>
                <a:effectLst/>
              </a:rPr>
              <a:t>calloc</a:t>
            </a:r>
            <a:r>
              <a:rPr lang="en-IN" sz="2800" b="1" i="0" dirty="0">
                <a:solidFill>
                  <a:srgbClr val="273239"/>
                </a:solidFill>
                <a:effectLst/>
              </a:rPr>
              <a:t>”</a:t>
            </a:r>
            <a:r>
              <a:rPr lang="en-IN" sz="2800" b="0" i="0" dirty="0">
                <a:solidFill>
                  <a:srgbClr val="273239"/>
                </a:solidFill>
                <a:effectLst/>
              </a:rPr>
              <a:t> or </a:t>
            </a:r>
            <a:r>
              <a:rPr lang="en-IN" sz="2800" b="1" i="0" dirty="0">
                <a:solidFill>
                  <a:srgbClr val="273239"/>
                </a:solidFill>
                <a:effectLst/>
              </a:rPr>
              <a:t>“contiguous allocation”</a:t>
            </a:r>
            <a:r>
              <a:rPr lang="en-IN" sz="2800" b="0" i="0" dirty="0">
                <a:solidFill>
                  <a:srgbClr val="273239"/>
                </a:solidFill>
                <a:effectLst/>
              </a:rPr>
              <a:t> method in C is used to </a:t>
            </a:r>
            <a:r>
              <a:rPr lang="en-IN" sz="2800" b="0" i="0" dirty="0">
                <a:solidFill>
                  <a:srgbClr val="FF0000"/>
                </a:solidFill>
                <a:effectLst/>
              </a:rPr>
              <a:t>dynamically allocate the specified number </a:t>
            </a:r>
            <a:r>
              <a:rPr lang="en-IN" sz="2800" b="0" i="0" dirty="0">
                <a:solidFill>
                  <a:srgbClr val="273239"/>
                </a:solidFill>
                <a:effectLst/>
              </a:rPr>
              <a:t>of blocks of memory of the specified type.</a:t>
            </a:r>
          </a:p>
          <a:p>
            <a:pPr fontAlgn="base"/>
            <a:r>
              <a:rPr lang="en-IN" sz="2800" b="0" i="0" dirty="0">
                <a:solidFill>
                  <a:srgbClr val="273239"/>
                </a:solidFill>
                <a:effectLst/>
              </a:rPr>
              <a:t> It initializes each block with a default value ‘0’.</a:t>
            </a:r>
          </a:p>
          <a:p>
            <a:pPr fontAlgn="base"/>
            <a:r>
              <a:rPr lang="en-IN" sz="2800" b="1" i="0" dirty="0">
                <a:solidFill>
                  <a:srgbClr val="273239"/>
                </a:solidFill>
                <a:effectLst/>
              </a:rPr>
              <a:t>Syntax:</a:t>
            </a:r>
          </a:p>
          <a:p>
            <a:pPr marL="0" indent="0" algn="l" fontAlgn="base">
              <a:buNone/>
            </a:pPr>
            <a:r>
              <a:rPr lang="en-IN" sz="2800" b="0" i="0" dirty="0">
                <a:solidFill>
                  <a:srgbClr val="273239"/>
                </a:solidFill>
                <a:effectLst/>
              </a:rPr>
              <a:t>	</a:t>
            </a:r>
            <a:r>
              <a:rPr lang="en-IN" sz="2800" b="0" i="0" dirty="0" err="1">
                <a:solidFill>
                  <a:srgbClr val="273239"/>
                </a:solidFill>
                <a:effectLst/>
              </a:rPr>
              <a:t>ptr</a:t>
            </a:r>
            <a:r>
              <a:rPr lang="en-IN" sz="2800" b="0" i="0" dirty="0">
                <a:solidFill>
                  <a:srgbClr val="273239"/>
                </a:solidFill>
                <a:effectLst/>
              </a:rPr>
              <a:t> = (cast-type*)</a:t>
            </a:r>
            <a:r>
              <a:rPr lang="en-IN" sz="2800" b="0" i="0" dirty="0" err="1">
                <a:solidFill>
                  <a:srgbClr val="273239"/>
                </a:solidFill>
                <a:effectLst/>
              </a:rPr>
              <a:t>calloc</a:t>
            </a:r>
            <a:r>
              <a:rPr lang="en-IN" sz="2800" b="0" i="0" dirty="0">
                <a:solidFill>
                  <a:srgbClr val="273239"/>
                </a:solidFill>
                <a:effectLst/>
              </a:rPr>
              <a:t>(n, element-size);</a:t>
            </a:r>
          </a:p>
          <a:p>
            <a:pPr fontAlgn="base"/>
            <a:r>
              <a:rPr lang="en-IN" sz="2800" b="1" i="0" dirty="0">
                <a:solidFill>
                  <a:srgbClr val="273239"/>
                </a:solidFill>
                <a:effectLst/>
              </a:rPr>
              <a:t>For Example:</a:t>
            </a:r>
          </a:p>
          <a:p>
            <a:pPr marL="0" indent="0" algn="l" fontAlgn="base">
              <a:buNone/>
            </a:pPr>
            <a:r>
              <a:rPr lang="en-IN" sz="2800" b="0" i="0" dirty="0">
                <a:solidFill>
                  <a:srgbClr val="273239"/>
                </a:solidFill>
                <a:effectLst/>
              </a:rPr>
              <a:t>	</a:t>
            </a:r>
            <a:r>
              <a:rPr lang="en-IN" sz="2800" b="0" i="0" dirty="0" err="1">
                <a:solidFill>
                  <a:srgbClr val="273239"/>
                </a:solidFill>
                <a:effectLst/>
              </a:rPr>
              <a:t>ptr</a:t>
            </a:r>
            <a:r>
              <a:rPr lang="en-IN" sz="2800" b="0" i="0" dirty="0">
                <a:solidFill>
                  <a:srgbClr val="273239"/>
                </a:solidFill>
                <a:effectLst/>
              </a:rPr>
              <a:t> = (float*) </a:t>
            </a:r>
            <a:r>
              <a:rPr lang="en-IN" sz="2800" b="0" i="0" dirty="0" err="1">
                <a:solidFill>
                  <a:srgbClr val="273239"/>
                </a:solidFill>
                <a:effectLst/>
              </a:rPr>
              <a:t>calloc</a:t>
            </a:r>
            <a:r>
              <a:rPr lang="en-IN" sz="2800" b="0" i="0" dirty="0">
                <a:solidFill>
                  <a:srgbClr val="273239"/>
                </a:solidFill>
                <a:effectLst/>
              </a:rPr>
              <a:t>(25, </a:t>
            </a:r>
            <a:r>
              <a:rPr lang="en-IN" sz="2800" b="0" i="0" dirty="0" err="1">
                <a:solidFill>
                  <a:srgbClr val="273239"/>
                </a:solidFill>
                <a:effectLst/>
              </a:rPr>
              <a:t>sizeof</a:t>
            </a:r>
            <a:r>
              <a:rPr lang="en-IN" sz="2800" b="0" i="0" dirty="0">
                <a:solidFill>
                  <a:srgbClr val="273239"/>
                </a:solidFill>
                <a:effectLst/>
              </a:rPr>
              <a:t>(float));</a:t>
            </a:r>
          </a:p>
          <a:p>
            <a:pPr marL="0" indent="0" algn="l" fontAlgn="base">
              <a:buNone/>
            </a:pPr>
            <a:r>
              <a:rPr lang="en-IN" sz="2800" b="0" i="0" dirty="0">
                <a:solidFill>
                  <a:srgbClr val="273239"/>
                </a:solidFill>
                <a:effectLst/>
              </a:rPr>
              <a:t>This statement allocates contiguous space in memory for 25 elements each with the size of the float.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926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9D344-6728-401C-B02C-7B5D5806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0" dirty="0" err="1">
                <a:solidFill>
                  <a:schemeClr val="bg1"/>
                </a:solidFill>
                <a:effectLst/>
                <a:latin typeface="urw-din"/>
              </a:rPr>
              <a:t>calloc</a:t>
            </a:r>
            <a:r>
              <a:rPr lang="en-IN" b="1" i="0" dirty="0">
                <a:solidFill>
                  <a:schemeClr val="bg1"/>
                </a:solidFill>
                <a:effectLst/>
                <a:latin typeface="urw-din"/>
              </a:rPr>
              <a:t>() method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36CFE4-077F-459E-84F4-6CFCD97672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1663" y="1842868"/>
            <a:ext cx="6229350" cy="2968283"/>
          </a:xfrm>
        </p:spPr>
      </p:pic>
    </p:spTree>
    <p:extLst>
      <p:ext uri="{BB962C8B-B14F-4D97-AF65-F5344CB8AC3E}">
        <p14:creationId xmlns:p14="http://schemas.microsoft.com/office/powerpoint/2010/main" val="21469076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4CBBB-A80D-450C-85A5-B6A35564B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free</a:t>
            </a:r>
            <a:r>
              <a:rPr lang="en-IN" sz="4000" b="1" i="0" dirty="0">
                <a:solidFill>
                  <a:schemeClr val="bg1"/>
                </a:solidFill>
                <a:effectLst/>
              </a:rPr>
              <a:t>() method</a:t>
            </a:r>
            <a:br>
              <a:rPr lang="en-IN" b="1" i="0" dirty="0">
                <a:solidFill>
                  <a:schemeClr val="bg1"/>
                </a:solidFill>
                <a:effectLst/>
                <a:latin typeface="urw-din"/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59806-6743-448C-B231-882471ACB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3532" y="864108"/>
            <a:ext cx="7765366" cy="5120640"/>
          </a:xfrm>
        </p:spPr>
        <p:txBody>
          <a:bodyPr>
            <a:normAutofit/>
          </a:bodyPr>
          <a:lstStyle/>
          <a:p>
            <a:pPr algn="l" fontAlgn="base"/>
            <a:r>
              <a:rPr lang="en-IN" sz="2800" b="1" i="0" dirty="0">
                <a:solidFill>
                  <a:srgbClr val="273239"/>
                </a:solidFill>
                <a:effectLst/>
                <a:latin typeface="urw-din"/>
              </a:rPr>
              <a:t>“</a:t>
            </a:r>
            <a:r>
              <a:rPr lang="en-IN" sz="3200" spc="-60" dirty="0">
                <a:solidFill>
                  <a:schemeClr val="tx1"/>
                </a:solidFill>
                <a:ea typeface="+mj-ea"/>
                <a:cs typeface="+mj-cs"/>
              </a:rPr>
              <a:t>free” method in C is used to dynamically </a:t>
            </a:r>
          </a:p>
          <a:p>
            <a:pPr marL="0" indent="0" algn="l" fontAlgn="base">
              <a:buNone/>
            </a:pPr>
            <a:r>
              <a:rPr lang="en-IN" sz="3200" spc="-60" dirty="0">
                <a:solidFill>
                  <a:schemeClr val="tx1"/>
                </a:solidFill>
                <a:ea typeface="+mj-ea"/>
                <a:cs typeface="+mj-cs"/>
              </a:rPr>
              <a:t>    </a:t>
            </a:r>
            <a:r>
              <a:rPr lang="en-IN" sz="3200" b="1" spc="-60" dirty="0">
                <a:solidFill>
                  <a:srgbClr val="FF0000"/>
                </a:solidFill>
                <a:ea typeface="+mj-ea"/>
                <a:cs typeface="+mj-cs"/>
              </a:rPr>
              <a:t>de-allocate the memory</a:t>
            </a:r>
            <a:r>
              <a:rPr lang="en-IN" sz="3200" spc="-60" dirty="0">
                <a:solidFill>
                  <a:schemeClr val="tx1"/>
                </a:solidFill>
                <a:ea typeface="+mj-ea"/>
                <a:cs typeface="+mj-cs"/>
              </a:rPr>
              <a:t>. </a:t>
            </a:r>
          </a:p>
          <a:p>
            <a:pPr algn="l" fontAlgn="base"/>
            <a:r>
              <a:rPr lang="en-IN" sz="3200" spc="-60" dirty="0">
                <a:solidFill>
                  <a:schemeClr val="tx1"/>
                </a:solidFill>
                <a:ea typeface="+mj-ea"/>
                <a:cs typeface="+mj-cs"/>
              </a:rPr>
              <a:t>The memory allocated using functions malloc() and </a:t>
            </a:r>
            <a:r>
              <a:rPr lang="en-IN" sz="3200" spc="-60" dirty="0" err="1">
                <a:solidFill>
                  <a:schemeClr val="tx1"/>
                </a:solidFill>
                <a:ea typeface="+mj-ea"/>
                <a:cs typeface="+mj-cs"/>
              </a:rPr>
              <a:t>calloc</a:t>
            </a:r>
            <a:r>
              <a:rPr lang="en-IN" sz="3200" spc="-60" dirty="0">
                <a:solidFill>
                  <a:schemeClr val="tx1"/>
                </a:solidFill>
                <a:ea typeface="+mj-ea"/>
                <a:cs typeface="+mj-cs"/>
              </a:rPr>
              <a:t>() is </a:t>
            </a:r>
            <a:r>
              <a:rPr lang="en-IN" sz="3200" b="1" spc="-60" dirty="0">
                <a:solidFill>
                  <a:srgbClr val="FF0000"/>
                </a:solidFill>
                <a:ea typeface="+mj-ea"/>
                <a:cs typeface="+mj-cs"/>
              </a:rPr>
              <a:t>not de-allocated </a:t>
            </a:r>
            <a:r>
              <a:rPr lang="en-IN" sz="3200" spc="-60" dirty="0">
                <a:solidFill>
                  <a:schemeClr val="tx1"/>
                </a:solidFill>
                <a:ea typeface="+mj-ea"/>
                <a:cs typeface="+mj-cs"/>
              </a:rPr>
              <a:t>on their own. </a:t>
            </a:r>
          </a:p>
          <a:p>
            <a:pPr algn="l" fontAlgn="base"/>
            <a:r>
              <a:rPr lang="en-IN" sz="3200" spc="-60" dirty="0">
                <a:solidFill>
                  <a:schemeClr val="tx1"/>
                </a:solidFill>
                <a:ea typeface="+mj-ea"/>
                <a:cs typeface="+mj-cs"/>
              </a:rPr>
              <a:t>Hence the free() method is used, whenever the dynamic memory allocation takes place. It </a:t>
            </a:r>
            <a:r>
              <a:rPr lang="en-IN" sz="3200" b="1" spc="-60" dirty="0">
                <a:solidFill>
                  <a:srgbClr val="FF0000"/>
                </a:solidFill>
                <a:ea typeface="+mj-ea"/>
                <a:cs typeface="+mj-cs"/>
              </a:rPr>
              <a:t>helps to reduce wastage of memory </a:t>
            </a:r>
            <a:r>
              <a:rPr lang="en-IN" sz="3200" spc="-60" dirty="0">
                <a:solidFill>
                  <a:schemeClr val="tx1"/>
                </a:solidFill>
                <a:ea typeface="+mj-ea"/>
                <a:cs typeface="+mj-cs"/>
              </a:rPr>
              <a:t>by freeing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390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6732-C3D4-495F-A9AC-9E9FFD9D8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dirty="0">
                <a:solidFill>
                  <a:schemeClr val="bg1"/>
                </a:solidFill>
              </a:rPr>
              <a:t>free</a:t>
            </a:r>
            <a:r>
              <a:rPr lang="en-IN" sz="4400" b="1" i="0" dirty="0">
                <a:solidFill>
                  <a:schemeClr val="bg1"/>
                </a:solidFill>
                <a:effectLst/>
              </a:rPr>
              <a:t>() method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CCF50-D425-46E7-B66E-75E5FA65B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960120" lvl="2" indent="0">
              <a:buNone/>
            </a:pPr>
            <a:r>
              <a:rPr lang="en-IN" sz="2400" dirty="0"/>
              <a:t>free(</a:t>
            </a:r>
            <a:r>
              <a:rPr lang="en-IN" sz="2400" dirty="0" err="1"/>
              <a:t>ptr</a:t>
            </a:r>
            <a:r>
              <a:rPr lang="en-IN" sz="2400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9F073-A08D-4E69-909A-C713C8586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043" y="2066981"/>
            <a:ext cx="6343650" cy="323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2157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1BDB2-9C8A-45FD-8B9F-0EFB6ED94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 err="1"/>
              <a:t>realloc</a:t>
            </a:r>
            <a:r>
              <a:rPr lang="en-IN" sz="4000" b="1" dirty="0"/>
              <a:t>() method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9D8E3-ED36-4344-87FC-15153A52E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5397" y="661182"/>
            <a:ext cx="7863840" cy="5739618"/>
          </a:xfrm>
        </p:spPr>
        <p:txBody>
          <a:bodyPr>
            <a:normAutofit fontScale="92500" lnSpcReduction="20000"/>
          </a:bodyPr>
          <a:lstStyle/>
          <a:p>
            <a:r>
              <a:rPr lang="en-IN" sz="2400" dirty="0"/>
              <a:t>“</a:t>
            </a:r>
            <a:r>
              <a:rPr lang="en-IN" sz="3200" dirty="0" err="1"/>
              <a:t>realloc</a:t>
            </a:r>
            <a:r>
              <a:rPr lang="en-IN" sz="3200" dirty="0"/>
              <a:t>” or “re-allocation” method in C is used to </a:t>
            </a:r>
            <a:r>
              <a:rPr lang="en-IN" sz="3200" dirty="0">
                <a:solidFill>
                  <a:srgbClr val="FF0000"/>
                </a:solidFill>
              </a:rPr>
              <a:t>dynamically change the memory allocation of a previously allocated memory</a:t>
            </a:r>
            <a:r>
              <a:rPr lang="en-IN" sz="3200" dirty="0"/>
              <a:t>.</a:t>
            </a:r>
          </a:p>
          <a:p>
            <a:r>
              <a:rPr lang="en-IN" sz="3200" dirty="0"/>
              <a:t> In other words, if the memory previously allocated with the help of malloc or </a:t>
            </a:r>
            <a:r>
              <a:rPr lang="en-IN" sz="3200" dirty="0" err="1"/>
              <a:t>calloc</a:t>
            </a:r>
            <a:r>
              <a:rPr lang="en-IN" sz="3200" dirty="0"/>
              <a:t> is insufficient, </a:t>
            </a:r>
            <a:r>
              <a:rPr lang="en-IN" sz="3200" dirty="0" err="1"/>
              <a:t>realloc</a:t>
            </a:r>
            <a:r>
              <a:rPr lang="en-IN" sz="3200" dirty="0"/>
              <a:t> can be used to </a:t>
            </a:r>
            <a:r>
              <a:rPr lang="en-IN" sz="3200" dirty="0">
                <a:solidFill>
                  <a:srgbClr val="FF0000"/>
                </a:solidFill>
              </a:rPr>
              <a:t>dynamically re-allocate memory. </a:t>
            </a:r>
          </a:p>
          <a:p>
            <a:r>
              <a:rPr lang="en-IN" sz="3200" dirty="0"/>
              <a:t>re-allocation of memory maintains the </a:t>
            </a:r>
            <a:r>
              <a:rPr lang="en-IN" sz="3200" dirty="0">
                <a:solidFill>
                  <a:srgbClr val="FF0000"/>
                </a:solidFill>
              </a:rPr>
              <a:t>already present value and new block</a:t>
            </a:r>
            <a:r>
              <a:rPr lang="en-IN" sz="3200" dirty="0"/>
              <a:t>s will be initialized with default garbage value.</a:t>
            </a:r>
          </a:p>
          <a:p>
            <a:r>
              <a:rPr lang="en-IN" sz="3200" dirty="0"/>
              <a:t>Syntax:</a:t>
            </a:r>
          </a:p>
          <a:p>
            <a:pPr marL="0" indent="0">
              <a:buNone/>
            </a:pPr>
            <a:r>
              <a:rPr lang="en-IN" sz="3200" dirty="0"/>
              <a:t>	</a:t>
            </a:r>
            <a:r>
              <a:rPr lang="en-IN" sz="3200" dirty="0" err="1"/>
              <a:t>ptr</a:t>
            </a:r>
            <a:r>
              <a:rPr lang="en-IN" sz="3200" dirty="0"/>
              <a:t> = </a:t>
            </a:r>
            <a:r>
              <a:rPr lang="en-IN" sz="3200" dirty="0" err="1"/>
              <a:t>realloc</a:t>
            </a:r>
            <a:r>
              <a:rPr lang="en-IN" sz="3200" dirty="0"/>
              <a:t>(</a:t>
            </a:r>
            <a:r>
              <a:rPr lang="en-IN" sz="3200" dirty="0" err="1"/>
              <a:t>ptr</a:t>
            </a:r>
            <a:r>
              <a:rPr lang="en-IN" sz="3200" dirty="0"/>
              <a:t>, </a:t>
            </a:r>
            <a:r>
              <a:rPr lang="en-IN" sz="3200" dirty="0" err="1"/>
              <a:t>newSize</a:t>
            </a:r>
            <a:r>
              <a:rPr lang="en-IN" sz="3200" dirty="0"/>
              <a:t>);</a:t>
            </a:r>
          </a:p>
          <a:p>
            <a:pPr marL="0" indent="0">
              <a:buNone/>
            </a:pPr>
            <a:r>
              <a:rPr lang="en-IN" sz="3200" dirty="0"/>
              <a:t>      where </a:t>
            </a:r>
            <a:r>
              <a:rPr lang="en-IN" sz="3200" dirty="0" err="1"/>
              <a:t>ptr</a:t>
            </a:r>
            <a:r>
              <a:rPr lang="en-IN" sz="3200" dirty="0"/>
              <a:t> is reallocated with new size '</a:t>
            </a:r>
            <a:r>
              <a:rPr lang="en-IN" sz="3200" dirty="0" err="1"/>
              <a:t>newSize</a:t>
            </a:r>
            <a:r>
              <a:rPr lang="en-IN" sz="3200" dirty="0"/>
              <a:t>'.</a:t>
            </a:r>
          </a:p>
        </p:txBody>
      </p:sp>
    </p:spTree>
    <p:extLst>
      <p:ext uri="{BB962C8B-B14F-4D97-AF65-F5344CB8AC3E}">
        <p14:creationId xmlns:p14="http://schemas.microsoft.com/office/powerpoint/2010/main" val="30042277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CCBAC-202C-4BBF-B7D0-2038B616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600" b="1" dirty="0" err="1"/>
              <a:t>realloc</a:t>
            </a:r>
            <a:r>
              <a:rPr lang="en-IN" sz="3600" b="1" dirty="0"/>
              <a:t>() method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E601CF-28A8-4761-A9A1-198659A3E5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4463" y="1252025"/>
            <a:ext cx="7143750" cy="4164037"/>
          </a:xfrm>
        </p:spPr>
      </p:pic>
    </p:spTree>
    <p:extLst>
      <p:ext uri="{BB962C8B-B14F-4D97-AF65-F5344CB8AC3E}">
        <p14:creationId xmlns:p14="http://schemas.microsoft.com/office/powerpoint/2010/main" val="138137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7E6B1-B21E-1330-3CFA-F8BE2C35A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Dangling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4B70E-C687-5846-F99C-C28056091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pointer pointing to a memory location that has been deleted (or freed) is called dangling pointer.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565892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8</TotalTime>
  <Words>2271</Words>
  <Application>Microsoft Office PowerPoint</Application>
  <PresentationFormat>Widescreen</PresentationFormat>
  <Paragraphs>253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Calibri</vt:lpstr>
      <vt:lpstr>Cambria</vt:lpstr>
      <vt:lpstr>Corbel</vt:lpstr>
      <vt:lpstr>inter-regular</vt:lpstr>
      <vt:lpstr>Times New Roman</vt:lpstr>
      <vt:lpstr>urw-din</vt:lpstr>
      <vt:lpstr>Wingdings</vt:lpstr>
      <vt:lpstr>Wingdings 2</vt:lpstr>
      <vt:lpstr>Frame</vt:lpstr>
      <vt:lpstr>PowerPoint Presentation</vt:lpstr>
      <vt:lpstr>Pointer </vt:lpstr>
      <vt:lpstr>Declaring a pointer </vt:lpstr>
      <vt:lpstr>Pointer Example</vt:lpstr>
      <vt:lpstr>Example </vt:lpstr>
      <vt:lpstr>Pointer to array </vt:lpstr>
      <vt:lpstr>Pointer to a function </vt:lpstr>
      <vt:lpstr>Pointer to a function</vt:lpstr>
      <vt:lpstr>Advantage of pointer </vt:lpstr>
      <vt:lpstr>Usage of pointer </vt:lpstr>
      <vt:lpstr>Address Of (&amp;) Operator </vt:lpstr>
      <vt:lpstr>Pointer Arithmetic </vt:lpstr>
      <vt:lpstr>Incrementing Pointer</vt:lpstr>
      <vt:lpstr>Example </vt:lpstr>
      <vt:lpstr>Decrementing Pointer </vt:lpstr>
      <vt:lpstr>Example </vt:lpstr>
      <vt:lpstr>Pointer Addition</vt:lpstr>
      <vt:lpstr>Pointer Addition</vt:lpstr>
      <vt:lpstr> Pointer Subtraction </vt:lpstr>
      <vt:lpstr>Pointer Subtraction</vt:lpstr>
      <vt:lpstr>Swapping using pointer</vt:lpstr>
      <vt:lpstr>PowerPoint Presentation</vt:lpstr>
      <vt:lpstr>NULL Pointer </vt:lpstr>
      <vt:lpstr>NULL Pointer </vt:lpstr>
      <vt:lpstr>Void Pointer </vt:lpstr>
      <vt:lpstr>Void Pointer </vt:lpstr>
      <vt:lpstr>Dynamic Memory Allocation</vt:lpstr>
      <vt:lpstr>malloc() method </vt:lpstr>
      <vt:lpstr>Example </vt:lpstr>
      <vt:lpstr>calloc() method </vt:lpstr>
      <vt:lpstr>calloc() method</vt:lpstr>
      <vt:lpstr>free() method </vt:lpstr>
      <vt:lpstr>free() method</vt:lpstr>
      <vt:lpstr>realloc() method </vt:lpstr>
      <vt:lpstr>realloc() method</vt:lpstr>
      <vt:lpstr>Dangling Pointer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 to the online  certificate  course</dc:title>
  <dc:creator>Deepak Mashru</dc:creator>
  <cp:lastModifiedBy>M M</cp:lastModifiedBy>
  <cp:revision>1430</cp:revision>
  <dcterms:created xsi:type="dcterms:W3CDTF">2019-05-12T04:30:40Z</dcterms:created>
  <dcterms:modified xsi:type="dcterms:W3CDTF">2025-11-04T08:40:07Z</dcterms:modified>
</cp:coreProperties>
</file>